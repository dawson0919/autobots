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2743200" cy="8686800"/>
          </a:xfrm>
          <a:prstGeom prst="rect">
            <a:avLst/>
          </a:prstGeom>
          <a:solidFill>
            <a:srgbClr val="00D4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5943600"/>
            <a:ext cx="2286000" cy="1371600"/>
          </a:xfrm>
          <a:prstGeom prst="rect">
            <a:avLst/>
          </a:prstGeom>
          <a:solidFill>
            <a:srgbClr val="00FF88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0" y="5486400"/>
            <a:ext cx="4572000" cy="137160"/>
          </a:xfrm>
          <a:prstGeom prst="parallelogram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7315200" y="914400"/>
            <a:ext cx="5486400" cy="91440"/>
          </a:xfrm>
          <a:prstGeom prst="parallelogram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6459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D4FF"/>
                </a:solidFill>
                <a:latin typeface="Calibri"/>
              </a:defRPr>
            </a:pPr>
            <a:r>
              <a:t>均線三刀流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E6F5"/>
                </a:solidFill>
                <a:latin typeface="Calibri"/>
              </a:defRPr>
            </a:pPr>
            <a:r>
              <a:t>交易機器人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6576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8A9E"/>
                </a:solidFill>
                <a:latin typeface="Calibri"/>
              </a:defRPr>
            </a:pPr>
            <a:r>
              <a:t>用 Claude Code 打造自動交易系統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6263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Powered by Claude Code + Pionex API + MCP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263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00D4FF"/>
                </a:solidFill>
                <a:latin typeface="Calibri"/>
              </a:defRPr>
            </a:pPr>
            <a:r>
              <a:t>SMA Crossover Strategy v6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什麼是「三刀流」？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A9E"/>
                </a:solidFill>
                <a:latin typeface="Calibri"/>
              </a:defRPr>
            </a:pPr>
            <a:r>
              <a:t>三條均線交叉策略 — 靈感來自三國演義的劉備、關羽、張飛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201168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🏯 劉備 (慢線)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F5"/>
                </a:solidFill>
                <a:latin typeface="Consolas"/>
              </a:defRPr>
            </a:pPr>
            <a:r>
              <a:t>SMA 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長期趨勢方向</a:t>
            </a:r>
            <a:br/>
            <a:r>
              <a:t>穩如泰山的基準線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474720" cy="201168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47472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Calibri"/>
              </a:defRPr>
            </a:pPr>
            <a:r>
              <a:t>⚔️ 關羽 (中線)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F5"/>
                </a:solidFill>
                <a:latin typeface="Consolas"/>
              </a:defRPr>
            </a:pPr>
            <a:r>
              <a:t>SMA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中期動能過濾</a:t>
            </a:r>
            <a:br/>
            <a:r>
              <a:t>承上啟下的關鍵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74720" cy="201168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🔥 張飛 (快線)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E6F5"/>
                </a:solidFill>
                <a:latin typeface="Consolas"/>
              </a:defRPr>
            </a:pPr>
            <a:r>
              <a:t>SMA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短期進出信號</a:t>
            </a:r>
            <a:br/>
            <a:r>
              <a:t>衝鋒陷陣的先鋒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112772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E6F5"/>
                </a:solidFill>
                <a:latin typeface="Calibri"/>
              </a:defRPr>
            </a:pPr>
            <a:r>
              <a:t>交易信號判斷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2011680" cy="41148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0A0E"/>
                </a:solidFill>
                <a:latin typeface="Calibri"/>
              </a:defRPr>
            </a:pPr>
            <a:r>
              <a:t>LONG 做多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983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F5"/>
                </a:solidFill>
                <a:latin typeface="Calibri"/>
              </a:defRPr>
            </a:pPr>
            <a:r>
              <a:t>張飛 &gt; 關羽 &gt; 劉備（黃金排列）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86400"/>
            <a:ext cx="2011680" cy="411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0A0E"/>
                </a:solidFill>
                <a:latin typeface="Calibri"/>
              </a:defRPr>
            </a:pPr>
            <a:r>
              <a:t>SHORT 做空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532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F5"/>
                </a:solidFill>
                <a:latin typeface="Calibri"/>
              </a:defRPr>
            </a:pPr>
            <a:r>
              <a:t>張飛 &lt; 關羽 &lt; 劉備（死亡排列）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35040"/>
            <a:ext cx="2011680" cy="411480"/>
          </a:xfrm>
          <a:prstGeom prst="round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080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0A0E"/>
                </a:solidFill>
                <a:latin typeface="Calibri"/>
              </a:defRPr>
            </a:pPr>
            <a:r>
              <a:t>HOLD 觀望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6080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F5"/>
                </a:solidFill>
                <a:latin typeface="Calibri"/>
              </a:defRPr>
            </a:pPr>
            <a:r>
              <a:t>均線糾纏，無明確方向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為什麼選擇 Claude Code？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32004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Calibri"/>
              </a:defRPr>
            </a:pPr>
            <a:r>
              <a:t>AI 輔助開發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自然語言描述需求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Claude 自動產生程式碼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即時除錯與重構建議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無需從零學習 API 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474720" cy="32004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47472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F88"/>
                </a:solidFill>
                <a:latin typeface="Calibri"/>
              </a:defRPr>
            </a:pPr>
            <a:r>
              <a:t>從零到上線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完整開發流程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環境配置 → 策略開發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→ 回測優化 → 實盤部署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2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一個 AI 助手全程搞定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474720" cy="32004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63040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MCP 生態系統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Model Context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直接操控交易所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一鍵建立網格機器人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2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F5"/>
                </a:solidFill>
                <a:latin typeface="Calibri"/>
              </a:defRPr>
            </a:pPr>
            <a:r>
              <a:t>▸ 即時查詢市場數據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29200"/>
            <a:ext cx="11277295" cy="13716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2064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# Claude Code + MCP = One-Click Trading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&gt; "幫我用 XAUT 的 1H 均線信號建立合約網格機器人"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&gt; Claude: 正在分析 SMA(100/30/10) 信號... 建立 5X 網格做空中...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✅ Bot created: 467efe81-2646-4f77 | XAUT_USDT_PERP | Grid 4000-5000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環境建置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A9E"/>
                </a:solidFill>
                <a:latin typeface="Calibri"/>
              </a:defRPr>
            </a:pPr>
            <a:r>
              <a:t>五分鐘完成開發環境設定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0A0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E6F5"/>
                </a:solidFill>
                <a:latin typeface="Calibri"/>
              </a:defRPr>
            </a:pPr>
            <a:r>
              <a:t>Claude Code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npm install -g @anthropic-ai/claude-code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0A0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E6F5"/>
                </a:solidFill>
                <a:latin typeface="Calibri"/>
              </a:defRPr>
            </a:pPr>
            <a:r>
              <a:t>Python 3.11+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uv 套件管理器（推薦）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49039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0A0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E6F5"/>
                </a:solidFill>
                <a:latin typeface="Calibri"/>
              </a:defRPr>
            </a:pPr>
            <a:r>
              <a:t>Pionex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Settings → API Management → 建立金鑰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800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0A0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E6F5"/>
                </a:solidFill>
                <a:latin typeface="Calibri"/>
              </a:defRPr>
            </a:pPr>
            <a:r>
              <a:t>.env 安全管理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API_KEY / SECRET 絕不進版控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專案結構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20240"/>
            <a:ext cx="5333695" cy="34747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011680"/>
            <a:ext cx="5059375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autobots/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├── index.html          # 監控儀表板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├── pionex-bot/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│   ├── output/         # 回測優化結果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│   └── backtest.py     # 策略回測引擎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├── calc_signals.py     # SMA 信號計算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├── .env                # API 金鑰 (gitignore)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└── .claude/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└── settings.json   # MCP 伺服器配置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760720"/>
            <a:ext cx="11277295" cy="82296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8E6F5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52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安全提醒：.env 檔案務必加入 .gitignore，Pionex API 金鑰建議設定 IP 白名單 + 僅開啟交易權限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API 串接架構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現貨 vs 合約 端點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645920" cy="365760"/>
          </a:xfrm>
          <a:prstGeom prst="roundRect">
            <a:avLst/>
          </a:prstGeom>
          <a:solidFill>
            <a:srgbClr val="C8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0A0E"/>
                </a:solidFill>
                <a:latin typeface="Calibri"/>
              </a:defRPr>
            </a:pPr>
            <a:r>
              <a:t>現貨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03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api.pionex.com/api/v1/*</a:t>
            </a:r>
            <a:br/>
            <a:r>
              <a:t>查詢餘額、下單、成交紀錄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645920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0A0E"/>
                </a:solidFill>
                <a:latin typeface="Calibri"/>
              </a:defRPr>
            </a:pPr>
            <a:r>
              <a:t>合約 Futures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08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futures.pionex.com/api/v1/*</a:t>
            </a:r>
            <a:br/>
            <a:r>
              <a:t>合約下單、網格機器人 CRUD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HMAC SHA256 簽名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120640" cy="16459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import hmac, hashlib, 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timestamp = str(int(time.time() * 1000))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params = f"timestamp={timestamp}"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signature = hmac.new(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SECRET.encode(), params.encode(),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hashlib.sha256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).hexdigest()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77295" cy="22860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772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⚠️ 常見陷阱：時間戳同步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問題：本機時間與伺服器差異 &gt; 5 秒 → 簽名失敗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FF88"/>
                </a:solidFill>
                <a:latin typeface="Calibri"/>
              </a:defRPr>
            </a:pPr>
            <a:r>
              <a:t>解法：先呼叫 /common/timestamp 取得伺服器時間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663440"/>
            <a:ext cx="5120640" cy="15544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75487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# 取得伺服器時間差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server_ts = get("/common/timestamp")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offset = server_ts - local_ts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# 每次簽名使用校正後時間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timestamp = local_ts + offset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策略核心引擎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A9E"/>
                </a:solidFill>
                <a:latin typeface="Calibri"/>
              </a:defRPr>
            </a:pPr>
            <a:r>
              <a:t>K線數據 → SMA 計算 → 信號生成 → 自動下單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114800" cy="13716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73152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Calibri"/>
              </a:defRPr>
            </a:pPr>
            <a:r>
              <a:t>1. 取得 K 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Pionex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GET /market/klines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interval=60M, limit=300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4114800" cy="13716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73152" cy="13716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FF88"/>
                </a:solidFill>
                <a:latin typeface="Calibri"/>
              </a:defRPr>
            </a:pPr>
            <a:r>
              <a:t>2. 計算 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滑動視窗平均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SMA(n) = Σclose /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三條均線同時計算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F8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4114800" cy="13716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73152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Calibri"/>
              </a:defRPr>
            </a:pPr>
            <a:r>
              <a:t>3. 判斷信號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比較三線排列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快&gt;中&gt;慢 = LONG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快&lt;中&lt;慢 = SHORT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Python 實作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1920240"/>
            <a:ext cx="6705295" cy="45720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011680"/>
            <a:ext cx="64309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# 取得 K 線數據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klines = pionex_market_get_klines(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symbol="XAUT_USDT_PERP",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interval="60M", limit=300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closes = [float(k["close"]) for k in klines]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# 計算三條均線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def sma(data, period):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return sum(data[-period:]) / period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liu_bei  = sma(closes, 100)   # 慢線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guan_yu  = sma(closes, 30)    # 中線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zhang_fei = sma(closes, 10)   # 快線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# 判斷信號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if zhang_fei &gt; guan_yu &gt; liu_bei: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signal = "LONG"   # 黃金排列 → 做多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elif zhang_fei &lt; guan_yu &lt; liu_bei: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signal = "SHORT"  # 死亡排列 → 做空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signal = "HOLD"   # 糾纏 → 觀望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信號強度分級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A9E"/>
                </a:solidFill>
                <a:latin typeface="Calibri"/>
              </a:defRPr>
            </a:pPr>
            <a:r>
              <a:t>依據均線交叉數量判斷信號強弱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347472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73152"/>
          </a:xfrm>
          <a:prstGeom prst="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8A9E"/>
                </a:solidFill>
                <a:latin typeface="Calibri"/>
              </a:defRPr>
            </a:pPr>
            <a:r>
              <a:t>⚡  弱信號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E6F5"/>
                </a:solidFill>
                <a:latin typeface="Calibri"/>
              </a:defRPr>
            </a:pPr>
            <a:r>
              <a:t>1 組交叉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36320" cy="137160"/>
          </a:xfrm>
          <a:prstGeom prst="roundRect">
            <a:avLst/>
          </a:prstGeom>
          <a:solidFill>
            <a:srgbClr val="6B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快線穿越中線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但慢線方向不明確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建議：輕倉或觀望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45920"/>
            <a:ext cx="3474720" cy="347472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34747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Calibri"/>
              </a:defRPr>
            </a:pPr>
            <a:r>
              <a:t>⚡⚡  中信號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E6F5"/>
                </a:solidFill>
                <a:latin typeface="Calibri"/>
              </a:defRPr>
            </a:pPr>
            <a:r>
              <a:t>2 組交叉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697480"/>
            <a:ext cx="2072640" cy="1371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017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快線+中線同向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3832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慢線尚未確認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49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建議：半倉進場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645920"/>
            <a:ext cx="3474720" cy="347472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645920"/>
            <a:ext cx="347472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F88"/>
                </a:solidFill>
                <a:latin typeface="Calibri"/>
              </a:defRPr>
            </a:pPr>
            <a:r>
              <a:t>⚡⚡⚡  強信號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E6F5"/>
                </a:solidFill>
                <a:latin typeface="Calibri"/>
              </a:defRPr>
            </a:pPr>
            <a:r>
              <a:t>3 組交叉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697480"/>
            <a:ext cx="3108960" cy="1371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017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快&gt;中&gt;慢 完全排列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832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三線方向一致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49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建議：標準倉位進場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94960"/>
            <a:ext cx="11277295" cy="109728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394960"/>
            <a:ext cx="73152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🎯 距離過濾器 (DIST_PCT)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  <a:latin typeface="Calibri"/>
              </a:defRPr>
            </a:pPr>
            <a:r>
              <a:t>避免假突破：只有當三條均線間距 &gt; 設定百分比時才觸發信號（如 DIST=1.5% 或 3%）</a:t>
            </a:r>
            <a:br/>
            <a:r>
              <a:t>過小的間距代表均線糾纏，信號不可靠，應維持 HOLD 狀態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合約網格機器人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A9E"/>
                </a:solidFill>
                <a:latin typeface="Calibri"/>
              </a:defRPr>
            </a:pPr>
            <a:r>
              <a:t>透過 MCP 工具一鍵操控 Pionex 網格交易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22860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futures_grid_create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symbol, top, bottom,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rows, trend, leverage,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quoteInvestment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45920"/>
            <a:ext cx="2651760" cy="22860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645920"/>
            <a:ext cx="26517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查詢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futures_grid_get_order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orderId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→ 狀態、盈虧、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已成交格數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45920"/>
            <a:ext cx="2651760" cy="22860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45920"/>
            <a:ext cx="26517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調整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futures_grid_adjust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調整網格上下界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追蹤利潤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動態止損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645920"/>
            <a:ext cx="2651760" cy="22860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645920"/>
            <a:ext cx="26517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關閉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futures_grid_cancel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orderId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平倉所有持倉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  <a:latin typeface="Calibri"/>
              </a:defRPr>
            </a:pPr>
            <a:r>
              <a:t>結算盈虧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Calibri"/>
              </a:defRPr>
            </a:pPr>
            <a:r>
              <a:t>實戰範例：從信號到機器人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80560"/>
            <a:ext cx="11277295" cy="20116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572000"/>
            <a:ext cx="110029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# 1. 計算信號 → SHORT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signal = calc_signal("XAUT_USDT_PERP", interval="60M")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# 2. MCP 一鍵建立合約網格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bot = pionex_bot_futures_grid_create(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symbol="XAUT_USDT_PERP",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top="5000", bottom="4000",      # 網格範圍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rows=50, arithmeticOrGeometric="arithmetic",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trend="SHORT", leverage="5",     # 5 倍槓桿做空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quoteInvestment="300"            # 投入 300 USDT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print(f"✅ Bot ID: {bot['orderId']} created!")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風險管理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A9E"/>
                </a:solidFill>
                <a:latin typeface="Calibri"/>
              </a:defRPr>
            </a:pPr>
            <a:r>
              <a:t>活下來才能賺到錢 — 資金管理四道防線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32004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🛡️ 第一道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E6F5"/>
                </a:solidFill>
                <a:latin typeface="Calibri"/>
              </a:defRPr>
            </a:pPr>
            <a:r>
              <a:t>倉位控制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每個機器人投入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總資金 10-15%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分散多幣種風險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651760" cy="32004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554480"/>
            <a:ext cx="265176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⚖️ 第二道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E6F5"/>
                </a:solidFill>
                <a:latin typeface="Calibri"/>
              </a:defRPr>
            </a:pPr>
            <a:r>
              <a:t>槓桿限制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最高 5X 槓桿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合約網格自帶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分批清算保護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651760" cy="32004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26517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Calibri"/>
              </a:defRPr>
            </a:pPr>
            <a:r>
              <a:t>🚨 第三道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E6F5"/>
                </a:solidFill>
                <a:latin typeface="Calibri"/>
              </a:defRPr>
            </a:pPr>
            <a:r>
              <a:t>每日虧損上限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單日最大虧損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不超過總資金 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觸發自動暫停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554480"/>
            <a:ext cx="2651760" cy="32004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554480"/>
            <a:ext cx="26517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🎯 第四道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011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E6F5"/>
                </a:solidFill>
                <a:latin typeface="Calibri"/>
              </a:defRPr>
            </a:pPr>
            <a:r>
              <a:t>止損/止盈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網格外設定硬止損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保護極端行情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246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鎖定獲利區間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29200"/>
            <a:ext cx="11277295" cy="13716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回測驗證數據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532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F5"/>
                </a:solidFill>
                <a:latin typeface="Calibri"/>
              </a:defRPr>
            </a:pPr>
            <a:r>
              <a:t>XAUT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+88.38%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alibri"/>
              </a:defRPr>
            </a:pPr>
            <a:r>
              <a:t>-10.4%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PF 4.35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532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F5"/>
                </a:solidFill>
                <a:latin typeface="Calibri"/>
              </a:defRPr>
            </a:pPr>
            <a:r>
              <a:t>XAG/SLVX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+96.96%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alibri"/>
              </a:defRPr>
            </a:pPr>
            <a:r>
              <a:t>-24.27%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PF 3.72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59" y="5532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F5"/>
                </a:solidFill>
                <a:latin typeface="Calibri"/>
              </a:defRPr>
            </a:pPr>
            <a:r>
              <a:t>SOL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39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+154.46%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39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alibri"/>
              </a:defRPr>
            </a:pPr>
            <a:r>
              <a:t>-28.15%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59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PF 1.58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上線實戰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A9E"/>
                </a:solidFill>
                <a:latin typeface="Calibri"/>
              </a:defRPr>
            </a:pPr>
            <a:r>
              <a:t>從 DRY RUN 到正式交易的三個階段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27432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4747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E6F5"/>
                </a:solidFill>
                <a:latin typeface="Calibri"/>
              </a:defRPr>
            </a:pPr>
            <a:r>
              <a:t>DRY RUN 模擬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使用歷史數據回測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驗證策略邏輯正確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確認進出場時機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檢查風控參數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474720" cy="27432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47472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E6F5"/>
                </a:solidFill>
                <a:latin typeface="Calibri"/>
              </a:defRPr>
            </a:pPr>
            <a:r>
              <a:t>小額實測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最小投入金額測試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觀察滑點與手續費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監控網格執行品質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驗證 API 穩定性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FF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554480"/>
            <a:ext cx="3474720" cy="274320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554480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E6F5"/>
                </a:solidFill>
                <a:latin typeface="Calibri"/>
              </a:defRPr>
            </a:pPr>
            <a:r>
              <a:t>正式上線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逐步放大倉位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啟動監控儀表板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設定告警通知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  <a:latin typeface="Calibri"/>
              </a:defRPr>
            </a:pPr>
            <a:r>
              <a:t>• 定期檢視績效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監控與錯誤處理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846320"/>
            <a:ext cx="11277295" cy="16459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937759"/>
            <a:ext cx="110029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# 儀表板即時監控（index.html Signal Engine）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async function fetchSignals()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const klines = await fetch(`${API}/market/klines?symbol=${sym}&amp;interval=60M&amp;limit=300`);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const signal = calculateSMA(klines);  // 計算三刀流信號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updateDashboard(signal);               // 更新儀表板狀態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    if (signal.changed) notifyUser();      // 信號變化時通知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FF88"/>
                </a:solidFill>
                <a:latin typeface="Consolas"/>
              </a:defRPr>
            </a:pPr>
            <a:r>
              <a:t>}  // 每小時自動執行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E6F5"/>
                </a:solidFill>
                <a:latin typeface="Calibri"/>
              </a:defRPr>
            </a:pPr>
            <a:r>
              <a:t>進階功能與未來展望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01168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🌐  多幣種同時監控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XAUT · XAG · SOL · USOX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商品、加密貨幣、股票指數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全天候自動輪動策略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01168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📊  複合指標增強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EMA 替代 SMA 更靈敏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MACD 確認動能方向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RSI 過濾超買超賣區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5303520" cy="201168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53035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94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🤖  MCP 一鍵交易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自然語言下單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語音控制交易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83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Claude 自動風控判斷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5303520" cy="201168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657600"/>
            <a:ext cx="53035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94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📈  自動化報告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每日績效彙報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17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Telegram/Discord 推送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983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A9E"/>
                </a:solidFill>
                <a:latin typeface="Calibri"/>
              </a:defRPr>
            </a:pPr>
            <a:r>
              <a:t>▸ 異常行為即時告警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1277295" cy="640080"/>
          </a:xfrm>
          <a:prstGeom prst="round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目標：打造 AI 驅動的全自動交易系統 — 從策略研發、回測優化到實盤執行，全程由 Claude Code 輔助完成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-914400"/>
            <a:ext cx="3657600" cy="8686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0" y="457200"/>
            <a:ext cx="4572000" cy="109728"/>
          </a:xfrm>
          <a:prstGeom prst="parallelogram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7772400" y="6217920"/>
            <a:ext cx="4572000" cy="109728"/>
          </a:xfrm>
          <a:prstGeom prst="parallelogram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E6F5"/>
                </a:solidFill>
                <a:latin typeface="Calibri"/>
              </a:defRPr>
            </a:pPr>
            <a:r>
              <a:t>總結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09728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三刀流策略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042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8A9E"/>
                </a:solidFill>
                <a:latin typeface="Calibri"/>
              </a:defRPr>
            </a:pPr>
            <a:r>
              <a:t>SMA 三線交叉，簡單有效的趨勢跟隨系統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71800"/>
            <a:ext cx="109728" cy="45720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900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8A9E"/>
                </a:solidFill>
                <a:latin typeface="Calibri"/>
              </a:defRPr>
            </a:pPr>
            <a:r>
              <a:t>AI 輔助開發，從零到上線只需對話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109728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MCP 生態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7588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8A9E"/>
                </a:solidFill>
                <a:latin typeface="Calibri"/>
              </a:defRPr>
            </a:pPr>
            <a:r>
              <a:t>一鍵操控交易所，建立/查詢/調整機器人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109728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風險優先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3616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8A9E"/>
                </a:solidFill>
                <a:latin typeface="Calibri"/>
              </a:defRPr>
            </a:pPr>
            <a:r>
              <a:t>回測驗證 + 倉位控制 + 槓桿限制 = 活下來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109728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持續進化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047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8A9E"/>
                </a:solidFill>
                <a:latin typeface="Calibri"/>
              </a:defRPr>
            </a:pPr>
            <a:r>
              <a:t>多幣種、複合指標、自動化報告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FF88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8A9E"/>
                </a:solidFill>
                <a:latin typeface="Calibri"/>
              </a:defRPr>
            </a:pPr>
            <a:r>
              <a:t>感謝聆聽！歡迎提問與交流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