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1371600"/>
            <a:ext cx="3200400" cy="320040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Noto Sans TC"/>
              </a:defRPr>
            </a:pPr>
            <a:r>
              <a:t>CLAUDE CODE × PIONEX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0F0F5"/>
                </a:solidFill>
                <a:latin typeface="Noto Sans TC"/>
              </a:defRPr>
            </a:pPr>
            <a:r>
              <a:t>均線三刀流交易機器人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A0A0C0"/>
                </a:solidFill>
                <a:latin typeface="Noto Sans TC"/>
              </a:defRPr>
            </a:pPr>
            <a:r>
              <a:t>三國版 — 用 Claude Code 打造自動交易系統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27432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Noto Sans TC"/>
              </a:defRPr>
            </a:pPr>
            <a:r>
              <a:t>刀神期權學院  |  量化交易系列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572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JetBrains Mono"/>
              </a:defRPr>
            </a:pPr>
            <a:r>
              <a:t>━  劉備 MA240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5029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444"/>
                </a:solidFill>
                <a:latin typeface="JetBrains Mono"/>
              </a:defRPr>
            </a:pPr>
            <a:r>
              <a:t>━  關羽 MA60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486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JetBrains Mono"/>
              </a:defRPr>
            </a:pPr>
            <a:r>
              <a:t>━  張飛 MA20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三國戰略：劉備 × 關羽 × 張飛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C0"/>
                </a:solidFill>
                <a:latin typeface="Noto Sans TC"/>
              </a:defRPr>
            </a:pPr>
            <a:r>
              <a:t>三條均線各司其職，攻守兼備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4747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914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843"/>
                </a:solidFill>
                <a:latin typeface="JetBrains Mono"/>
              </a:defRPr>
            </a:pPr>
            <a:r>
              <a:t>劉備  MA(240)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Noto Sans TC"/>
              </a:defRPr>
            </a:pPr>
            <a:r>
              <a:t>看方向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大盤多空分水嶺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價格 &gt; 240MA → 多頭格局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價格 &lt; 240MA → 空頭格局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決定整體戰略方向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4747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2377440"/>
            <a:ext cx="91440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4444"/>
                </a:solidFill>
                <a:latin typeface="JetBrains Mono"/>
              </a:defRPr>
            </a:pPr>
            <a:r>
              <a:t>關羽  MA(60)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Noto Sans TC"/>
              </a:defRPr>
            </a:pPr>
            <a:r>
              <a:t>負責打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6576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進出場節奏控制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站上 60MA → 做多時機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跌破 60MA → 做空時機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空頭反彈 / 多頭修正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34747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377440"/>
            <a:ext cx="914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5CF6"/>
                </a:solidFill>
                <a:latin typeface="JetBrains Mono"/>
              </a:defRPr>
            </a:pPr>
            <a:r>
              <a:t>張飛  MA(20)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Noto Sans TC"/>
              </a:defRPr>
            </a:pPr>
            <a:r>
              <a:t>負責收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576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收尾控風險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斜率轉負 → 平多倉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斜率轉正 → 平空倉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MA20 斜率決定收兵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為什麼用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C0"/>
                </a:solidFill>
                <a:latin typeface="Noto Sans TC"/>
              </a:defRPr>
            </a:pPr>
            <a:r>
              <a:t>AI 輔助開發，從零到上線的最佳夥伴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06040" cy="38404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64008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Noto Sans TC"/>
              </a:defRPr>
            </a:pPr>
            <a:r>
              <a:t>AI 開發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自然語言下指令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自動生成交易邏輯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策略代碼一次到位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606040" cy="38404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2331720"/>
            <a:ext cx="64008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  <a:latin typeface="Noto Sans TC"/>
              </a:defRPr>
            </a:pPr>
            <a:r>
              <a:t>零到上線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策略→回測→部署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全程 AI 協作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減少 80% 開發時間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103120"/>
            <a:ext cx="2606040" cy="38404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59" y="2331720"/>
            <a:ext cx="6400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Noto Sans TC"/>
              </a:defRPr>
            </a:pPr>
            <a:r>
              <a:t>MCP 生態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直接呼叫 Pionex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一鍵建單查單改單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即時市場數據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103120"/>
            <a:ext cx="2606040" cy="38404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19" y="2331720"/>
            <a:ext cx="64008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Noto Sans TC"/>
              </a:defRPr>
            </a:pPr>
            <a:r>
              <a:t>即時除錯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錯誤自動分析修復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API 簽名問題秒解</a:t>
            </a:r>
          </a:p>
          <a:p>
            <a:pPr>
              <a:spcBef>
                <a:spcPts val="8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日誌追蹤全覆蓋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環境建置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00784"/>
            <a:ext cx="73152" cy="3200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Noto Sans TC"/>
              </a:defRPr>
            </a:pPr>
            <a: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終端機 AI 助手，支援 MCP 工具生態系統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60904"/>
            <a:ext cx="73152" cy="3200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  <a:latin typeface="Noto Sans TC"/>
              </a:defRPr>
            </a:pPr>
            <a:r>
              <a:t>Python 3.11+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53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httpx、numpy、websockets 等核心套件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21024"/>
            <a:ext cx="73152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Noto Sans TC"/>
              </a:defRPr>
            </a:pPr>
            <a:r>
              <a:t>Pionex API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136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申請 API Key + Secret，啟用合約交易權限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81144"/>
            <a:ext cx="73152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Noto Sans TC"/>
              </a:defRPr>
            </a:pPr>
            <a:r>
              <a:t>.env 安全管理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737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敏感資訊不進版控，python-dotenv 載入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41264"/>
            <a:ext cx="73152" cy="320040"/>
          </a:xfrm>
          <a:prstGeom prst="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BFF"/>
                </a:solidFill>
                <a:latin typeface="Noto Sans TC"/>
              </a:defRPr>
            </a:pPr>
            <a:r>
              <a:t>模組化架構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338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client.py / strategy_sanguo.py / bot.py / config.py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  <a:latin typeface="Noto Sans TC"/>
              </a:defRPr>
            </a:pPr>
            <a:r>
              <a:t>API 串接：HMAC SHA256 簽名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Spot &amp; Futures 共用簽名邏輯，timestamp 同步是關鍵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97280" cy="347472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A1A"/>
                </a:solidFill>
                <a:latin typeface="JetBrains Mono"/>
              </a:defRPr>
            </a:pPr>
            <a: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6858000" cy="4114800"/>
          </a:xfrm>
          <a:prstGeom prst="round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import hmac, hashlib, time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def sign_request(method, path, params, secret):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ts = str(int(time.time() * 1000))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query = '&amp;'.join(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    f'{k}={v}' for k, v in sorted(params.items())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)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msg = f'{method}\n{path}\n{query}\n{ts}'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sig = hmac.new(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    secret.encode(), msg.encode(),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    hashlib.sha256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).hexdigest()</a:t>
            </a:r>
          </a:p>
          <a:p>
            <a:pPr>
              <a:spcBef>
                <a:spcPts val="200"/>
              </a:spcBef>
              <a:defRPr sz="1300">
                <a:solidFill>
                  <a:srgbClr val="00FF88"/>
                </a:solidFill>
                <a:latin typeface="JetBrains Mono"/>
              </a:defRPr>
            </a:pPr>
            <a:r>
              <a:t>    return sig, 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  <a:latin typeface="Noto Sans TC"/>
              </a:defRPr>
            </a:pPr>
            <a:r>
              <a:t>HMAC SHA256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Noto Sans TC"/>
              </a:defRPr>
            </a:pPr>
            <a:r>
              <a:t>業界標準 API 簽名方式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Noto Sans TC"/>
              </a:defRPr>
            </a:pPr>
            <a:r>
              <a:t>Timestamp 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Noto Sans TC"/>
              </a:defRPr>
            </a:pPr>
            <a:r>
              <a:t>伺服器時間差需 &lt; 5 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Noto Sans TC"/>
              </a:defRPr>
            </a:pPr>
            <a:r>
              <a:t>Secret 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Noto Sans TC"/>
              </a:defRPr>
            </a:pPr>
            <a:r>
              <a:t>.env 管理，絕不進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策略核心：三國信號系統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50292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8"/>
                </a:solidFill>
                <a:latin typeface="Noto Sans TC"/>
              </a:defRPr>
            </a:pPr>
            <a:r>
              <a:t>做多信號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Noto Sans TC"/>
              </a:defRPr>
            </a:pPr>
            <a:r>
              <a:t>全軍做多 MAIN_LONG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JetBrains Mono"/>
              </a:defRPr>
            </a:pPr>
            <a:r>
              <a:t>price &gt; 240MA 且 &gt; 60MA 且 &gt; 20MA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Noto Sans TC"/>
              </a:defRPr>
            </a:pPr>
            <a:r>
              <a:t>三軍對齊，全面進攻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Noto Sans TC"/>
              </a:defRPr>
            </a:pPr>
            <a:r>
              <a:t>反彈做多 BOUNCE_LONG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69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JetBrains Mono"/>
              </a:defRPr>
            </a:pPr>
            <a:r>
              <a:t>price &lt; 240MA 但 &gt; 60MA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Noto Sans TC"/>
              </a:defRPr>
            </a:pPr>
            <a:r>
              <a:t>空頭格局中的反彈機會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50292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0352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444"/>
                </a:solidFill>
                <a:latin typeface="Noto Sans TC"/>
              </a:defRPr>
            </a:pPr>
            <a:r>
              <a:t>做空信號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Noto Sans TC"/>
              </a:defRPr>
            </a:pPr>
            <a:r>
              <a:t>全軍做空 MAIN_SHORT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JetBrains Mono"/>
              </a:defRPr>
            </a:pPr>
            <a:r>
              <a:t>price &lt; 240MA 且 &lt; 60MA 且 &lt; 20MA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Noto Sans TC"/>
              </a:defRPr>
            </a:pPr>
            <a:r>
              <a:t>三軍對齊，全面撤退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Noto Sans TC"/>
              </a:defRPr>
            </a:pPr>
            <a:r>
              <a:t>修正做空 CORRECTION_SHORT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69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JetBrains Mono"/>
              </a:defRPr>
            </a:pPr>
            <a:r>
              <a:t>price &gt; 240MA 但 &lt; 60MA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891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Noto Sans TC"/>
              </a:defRPr>
            </a:pPr>
            <a:r>
              <a:t>多頭格局中的修正機會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110642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Noto Sans TC"/>
              </a:defRPr>
            </a:pPr>
            <a:r>
              <a:t>張飛收兵（平倉信號）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Noto Sans TC"/>
              </a:defRPr>
            </a:pPr>
            <a:r>
              <a:t>MA20 斜率轉負 → 平多（MAIN_LONG / BOUNCE_LONG）  |  MA20 斜率轉正 → 平空（MAIN_SHORT / CORRECTION_SHORT）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信號強度系統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C0"/>
                </a:solidFill>
                <a:latin typeface="Noto Sans TC"/>
              </a:defRPr>
            </a:pPr>
            <a:r>
              <a:t>強度越高，信號越可靠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FF88"/>
                </a:solidFill>
                <a:latin typeface="JetBrains Mono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Noto Sans TC"/>
              </a:defRPr>
            </a:pPr>
            <a:r>
              <a:t>主趨勢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A0A0C0"/>
                </a:solidFill>
                <a:latin typeface="Noto Sans TC"/>
              </a:defRPr>
            </a:pPr>
            <a:r>
              <a:t>劉備+關羽+張飛</a:t>
            </a:r>
          </a:p>
          <a:p>
            <a:pPr>
              <a:spcBef>
                <a:spcPts val="600"/>
              </a:spcBef>
              <a:defRPr sz="1500">
                <a:solidFill>
                  <a:srgbClr val="A0A0C0"/>
                </a:solidFill>
                <a:latin typeface="Noto Sans TC"/>
              </a:defRPr>
            </a:pPr>
            <a:r>
              <a:t>全部對齊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5212080"/>
            <a:ext cx="292608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FF88"/>
                </a:solidFill>
                <a:latin typeface="JetBrains Mono"/>
              </a:defRPr>
            </a:pPr>
            <a:r>
              <a:t>全軍做多 / 全軍做空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103120"/>
            <a:ext cx="34747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103120"/>
            <a:ext cx="347472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377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843"/>
                </a:solidFill>
                <a:latin typeface="JetBrains Mono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Noto Sans TC"/>
              </a:defRPr>
            </a:pPr>
            <a:r>
              <a:t>反彈修正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4023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A0A0C0"/>
                </a:solidFill>
                <a:latin typeface="Noto Sans TC"/>
              </a:defRPr>
            </a:pPr>
            <a:r>
              <a:t>劉備方向相反</a:t>
            </a:r>
          </a:p>
          <a:p>
            <a:pPr>
              <a:spcBef>
                <a:spcPts val="600"/>
              </a:spcBef>
              <a:defRPr sz="1500">
                <a:solidFill>
                  <a:srgbClr val="A0A0C0"/>
                </a:solidFill>
                <a:latin typeface="Noto Sans TC"/>
              </a:defRPr>
            </a:pPr>
            <a:r>
              <a:t>但關羽發現機會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5212080"/>
            <a:ext cx="292608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5394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843"/>
                </a:solidFill>
                <a:latin typeface="JetBrains Mono"/>
              </a:defRPr>
            </a:pPr>
            <a:r>
              <a:t>反彈做多 / 修正做空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103120"/>
            <a:ext cx="34747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10312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377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8B5CF6"/>
                </a:solidFill>
                <a:latin typeface="JetBrains Mono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Noto Sans TC"/>
              </a:defRPr>
            </a:pPr>
            <a:r>
              <a:t>張飛收兵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023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A0A0C0"/>
                </a:solidFill>
                <a:latin typeface="Noto Sans TC"/>
              </a:defRPr>
            </a:pPr>
            <a:r>
              <a:t>MA20 斜率翻轉</a:t>
            </a:r>
          </a:p>
          <a:p>
            <a:pPr>
              <a:spcBef>
                <a:spcPts val="600"/>
              </a:spcBef>
              <a:defRPr sz="1500">
                <a:solidFill>
                  <a:srgbClr val="A0A0C0"/>
                </a:solidFill>
                <a:latin typeface="Noto Sans TC"/>
              </a:defRPr>
            </a:pPr>
            <a:r>
              <a:t>觸發平倉信號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5212080"/>
            <a:ext cx="29260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394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  <a:latin typeface="JetBrains Mono"/>
              </a:defRPr>
            </a:pPr>
            <a:r>
              <a:t>平多 / 平空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合約網格機器人 × MCP 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98110" y="2743200"/>
            <a:ext cx="2194560" cy="219456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35270" y="2880360"/>
            <a:ext cx="1920240" cy="1920240"/>
          </a:xfrm>
          <a:prstGeom prst="ellipse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099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88"/>
                </a:solidFill>
                <a:latin typeface="JetBrains Mono"/>
              </a:defRPr>
            </a:pPr>
            <a:r>
              <a:t>Grid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099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合約網格</a:t>
            </a:r>
          </a:p>
        </p:txBody>
      </p:sp>
      <p:sp>
        <p:nvSpPr>
          <p:cNvPr id="8" name="Oval 7"/>
          <p:cNvSpPr/>
          <p:nvPr/>
        </p:nvSpPr>
        <p:spPr>
          <a:xfrm>
            <a:off x="5592470" y="777240"/>
            <a:ext cx="1005840" cy="100584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9811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Noto Sans TC"/>
              </a:defRPr>
            </a:pPr>
            <a:r>
              <a:t>建立網格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11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C0"/>
                </a:solidFill>
                <a:latin typeface="JetBrains Mono"/>
              </a:defRPr>
            </a:pPr>
            <a:r>
              <a:t>futures_grid_create</a:t>
            </a:r>
          </a:p>
        </p:txBody>
      </p:sp>
      <p:sp>
        <p:nvSpPr>
          <p:cNvPr id="11" name="Oval 10"/>
          <p:cNvSpPr/>
          <p:nvPr/>
        </p:nvSpPr>
        <p:spPr>
          <a:xfrm>
            <a:off x="7809772" y="2057400"/>
            <a:ext cx="1005840" cy="100584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15412" y="3108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43"/>
                </a:solidFill>
                <a:latin typeface="Noto Sans TC"/>
              </a:defRPr>
            </a:pPr>
            <a:r>
              <a:t>查詢訂單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5412" y="3383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C0"/>
                </a:solidFill>
                <a:latin typeface="JetBrains Mono"/>
              </a:defRPr>
            </a:pPr>
            <a:r>
              <a:t>futures_grid_get</a:t>
            </a:r>
          </a:p>
        </p:txBody>
      </p:sp>
      <p:sp>
        <p:nvSpPr>
          <p:cNvPr id="14" name="Oval 13"/>
          <p:cNvSpPr/>
          <p:nvPr/>
        </p:nvSpPr>
        <p:spPr>
          <a:xfrm>
            <a:off x="7809772" y="4617720"/>
            <a:ext cx="1005840" cy="100584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15412" y="56692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Noto Sans TC"/>
              </a:defRPr>
            </a:pPr>
            <a:r>
              <a:t>調整參數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5412" y="59435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C0"/>
                </a:solidFill>
                <a:latin typeface="JetBrains Mono"/>
              </a:defRPr>
            </a:pPr>
            <a:r>
              <a:t>grid_adjust_params</a:t>
            </a:r>
          </a:p>
        </p:txBody>
      </p:sp>
      <p:sp>
        <p:nvSpPr>
          <p:cNvPr id="17" name="Oval 16"/>
          <p:cNvSpPr/>
          <p:nvPr/>
        </p:nvSpPr>
        <p:spPr>
          <a:xfrm>
            <a:off x="5592470" y="5897880"/>
            <a:ext cx="1005840" cy="100584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8110" y="6949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BFF"/>
                </a:solidFill>
                <a:latin typeface="Noto Sans TC"/>
              </a:defRPr>
            </a:pPr>
            <a:r>
              <a:t>縮減倉位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8110" y="722375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C0"/>
                </a:solidFill>
                <a:latin typeface="JetBrains Mono"/>
              </a:defRPr>
            </a:pPr>
            <a:r>
              <a:t>futures_grid_reduce</a:t>
            </a:r>
          </a:p>
        </p:txBody>
      </p:sp>
      <p:sp>
        <p:nvSpPr>
          <p:cNvPr id="20" name="Oval 19"/>
          <p:cNvSpPr/>
          <p:nvPr/>
        </p:nvSpPr>
        <p:spPr>
          <a:xfrm>
            <a:off x="3375168" y="4617720"/>
            <a:ext cx="1005840" cy="100584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0808" y="56692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Noto Sans TC"/>
              </a:defRPr>
            </a:pPr>
            <a:r>
              <a:t>取消機器人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0808" y="59435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C0"/>
                </a:solidFill>
                <a:latin typeface="JetBrains Mono"/>
              </a:defRPr>
            </a:pPr>
            <a:r>
              <a:t>futures_grid_cancel</a:t>
            </a:r>
          </a:p>
        </p:txBody>
      </p:sp>
      <p:sp>
        <p:nvSpPr>
          <p:cNvPr id="23" name="Oval 22"/>
          <p:cNvSpPr/>
          <p:nvPr/>
        </p:nvSpPr>
        <p:spPr>
          <a:xfrm>
            <a:off x="3375168" y="2057400"/>
            <a:ext cx="1005840" cy="100584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0808" y="31089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F43"/>
                </a:solidFill>
                <a:latin typeface="Noto Sans TC"/>
              </a:defRPr>
            </a:pPr>
            <a:r>
              <a:t>帳戶餘額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0808" y="338327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C0"/>
                </a:solidFill>
                <a:latin typeface="JetBrains Mono"/>
              </a:defRPr>
            </a:pPr>
            <a:r>
              <a:t>account_get_balance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風險管理四道防線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C0"/>
                </a:solidFill>
                <a:latin typeface="Noto Sans TC"/>
              </a:defRPr>
            </a:pPr>
            <a:r>
              <a:t>活得久比賺得快更重要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060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60604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A1A"/>
                </a:solidFill>
                <a:latin typeface="Noto Sans T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Noto Sans TC"/>
              </a:defRPr>
            </a:pPr>
            <a:r>
              <a:t>倉位控制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固定投資金額</a:t>
            </a:r>
          </a:p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每筆 $50 USDT</a:t>
            </a:r>
          </a:p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不隨情緒加碼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03120"/>
            <a:ext cx="26060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103120"/>
            <a:ext cx="260604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2377440"/>
            <a:ext cx="457200" cy="4572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395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A1A"/>
                </a:solidFill>
                <a:latin typeface="Noto Sans T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Noto Sans TC"/>
              </a:defRPr>
            </a:pPr>
            <a:r>
              <a:t>槓桿上限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004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最高 5x 槓桿</a:t>
            </a:r>
          </a:p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依信號強度調整</a:t>
            </a:r>
          </a:p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強信號才用高槓桿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103120"/>
            <a:ext cx="26060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2103120"/>
            <a:ext cx="260604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37959" y="2377440"/>
            <a:ext cx="457200" cy="45720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395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A1A"/>
                </a:solidFill>
                <a:latin typeface="Noto Sans TC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9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Noto Sans TC"/>
              </a:defRPr>
            </a:pPr>
            <a:r>
              <a:t>硬止損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2004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虧損達 SL% 強制平倉</a:t>
            </a:r>
          </a:p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建議 8-15%</a:t>
            </a:r>
          </a:p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保護本金底線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19" y="2103120"/>
            <a:ext cx="26060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19" y="210312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8319" y="23774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19" y="2395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A1A"/>
                </a:solidFill>
                <a:latin typeface="Noto Sans TC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79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Noto Sans TC"/>
              </a:defRPr>
            </a:pPr>
            <a:r>
              <a:t>移動停利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32004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獲利達門檻後啟動</a:t>
            </a:r>
          </a:p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從高點回撤超限平倉</a:t>
            </a:r>
          </a:p>
          <a:p>
            <a:pPr>
              <a:spcBef>
                <a:spcPts val="1000"/>
              </a:spcBef>
              <a:defRPr sz="1400">
                <a:solidFill>
                  <a:srgbClr val="A0A0C0"/>
                </a:solidFill>
                <a:latin typeface="Noto Sans TC"/>
              </a:defRPr>
            </a:pPr>
            <a:r>
              <a:t>鎖定已有利潤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0" y="914400"/>
            <a:ext cx="5029200" cy="4572000"/>
          </a:xfrm>
          <a:prstGeom prst="parallelogram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1371600"/>
            <a:ext cx="4114800" cy="3657600"/>
          </a:xfrm>
          <a:prstGeom prst="parallelogram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FF88"/>
                </a:solidFill>
                <a:latin typeface="JetBrains Mono"/>
              </a:defRPr>
            </a:pPr>
            <a:r>
              <a:t>FROM DRY RUN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0" b="1">
                <a:solidFill>
                  <a:srgbClr val="F0F0F5"/>
                </a:solidFill>
                <a:latin typeface="Noto Sans TC"/>
              </a:defRPr>
            </a:pPr>
            <a:r>
              <a:t>上線實戰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320040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D4A843"/>
                </a:solidFill>
                <a:latin typeface="JetBrains Mono"/>
              </a:defRPr>
            </a:pPr>
            <a:r>
              <a:t>DRY_RUN =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950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A0C0"/>
                </a:solidFill>
                <a:latin typeface="Noto Sans TC"/>
              </a:defRPr>
            </a:pPr>
            <a:r>
              <a:t>模擬交易，驗證邏輯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FF88"/>
                </a:solidFill>
                <a:latin typeface="JetBrains Mono"/>
              </a:defRPr>
            </a:pPr>
            <a:r>
              <a:t>WebSocket 監控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A0C0"/>
                </a:solidFill>
                <a:latin typeface="Noto Sans TC"/>
              </a:defRPr>
            </a:pPr>
            <a:r>
              <a:t>即時 K 線推送，減少 API 呼叫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6B6B"/>
                </a:solidFill>
                <a:latin typeface="JetBrains Mono"/>
              </a:defRPr>
            </a:pPr>
            <a:r>
              <a:t>錯誤處理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13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A0C0"/>
                </a:solidFill>
                <a:latin typeface="Noto Sans TC"/>
              </a:defRPr>
            </a:pPr>
            <a:r>
              <a:t>自動重連、日誌記錄、異常告警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8B5CF6"/>
                </a:solidFill>
                <a:latin typeface="JetBrains Mono"/>
              </a:defRPr>
            </a:pPr>
            <a:r>
              <a:t>DRY_RUN = 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144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A0C0"/>
                </a:solidFill>
                <a:latin typeface="Noto Sans TC"/>
              </a:defRPr>
            </a:pPr>
            <a:r>
              <a:t>正式上線，真金白銀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3200400" cy="3200400"/>
          </a:xfrm>
          <a:prstGeom prst="ellipse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進階發展方向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9344"/>
            <a:ext cx="73152" cy="3200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Noto Sans TC"/>
              </a:defRPr>
            </a:pPr>
            <a:r>
              <a:t>多幣種擴展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019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同時監控 BTC、ETH、WTI 等多個交易對，分散風險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9464"/>
            <a:ext cx="73152" cy="3200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  <a:latin typeface="Noto Sans TC"/>
              </a:defRPr>
            </a:pPr>
            <a:r>
              <a:t>指標組合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62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EMA + MACD + RSI 多重確認，提升信號準確度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9584"/>
            <a:ext cx="73152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Noto Sans TC"/>
              </a:defRPr>
            </a:pPr>
            <a:r>
              <a:t>三國版進化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22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調整 劉備/關羽/張飛 週期參數，適配不同幣種特性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9704"/>
            <a:ext cx="73152" cy="320040"/>
          </a:xfrm>
          <a:prstGeom prst="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BFF"/>
                </a:solidFill>
                <a:latin typeface="Noto Sans TC"/>
              </a:defRPr>
            </a:pPr>
            <a:r>
              <a:t>MCP 一鍵交易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82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Claude Code 直接下單，語音指令即可建立網格機器人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49824"/>
            <a:ext cx="73152" cy="3200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Noto Sans TC"/>
              </a:defRPr>
            </a:pPr>
            <a:r>
              <a:t>自動報告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42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Noto Sans TC"/>
              </a:defRPr>
            </a:pPr>
            <a:r>
              <a:t>每日 PnL 統計、勝率分析、風險指標自動生成報表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0F0F5"/>
                </a:solidFill>
                <a:latin typeface="Noto Sans TC"/>
              </a:defRPr>
            </a:pPr>
            <a:r>
              <a:t>總結 &amp;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926080"/>
            <a:ext cx="2286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0A0C0"/>
                </a:solidFill>
                <a:latin typeface="Noto Sans TC"/>
              </a:defRPr>
            </a:pPr>
            <a:r>
              <a:t>  三國策略：劉備看方向、關羽負責打、張飛負責收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94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0A0C0"/>
                </a:solidFill>
                <a:latin typeface="Noto Sans TC"/>
              </a:defRPr>
            </a:pPr>
            <a:r>
              <a:t>  Claude Code + MCP = 從策略到上線的 AI 全自動化開發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0A0C0"/>
                </a:solidFill>
                <a:latin typeface="Noto Sans TC"/>
              </a:defRPr>
            </a:pPr>
            <a:r>
              <a:t>  風險管理四道防線：倉位 / 槓桿 / 止損 / 移動停利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00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0A0C0"/>
                </a:solidFill>
                <a:latin typeface="Noto Sans TC"/>
              </a:defRPr>
            </a:pPr>
            <a:r>
              <a:t>  回測驗證 → DRY RUN → 正式上線的安全流程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C0"/>
                </a:solidFill>
                <a:latin typeface="Noto Sans TC"/>
              </a:defRPr>
            </a:pPr>
            <a:r>
              <a:t>刀神期權學院  |  量化交易系列  |  Claude Code × Pionex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