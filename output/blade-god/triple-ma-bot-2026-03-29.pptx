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F0F5"/>
                </a:solidFill>
                <a:latin typeface="Noto Sans TC"/>
              </a:defRPr>
            </a:pPr>
            <a:r>
              <a:t>均線三刀流交易機器人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0A0C0"/>
                </a:solidFill>
                <a:latin typeface="Noto Sans TC"/>
              </a:defRPr>
            </a:pPr>
            <a:r>
              <a:t>用 Claude Code 打造自動合約交易系統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5120640"/>
            <a:ext cx="3962095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843"/>
                </a:solidFill>
                <a:latin typeface="Noto Sans TC"/>
              </a:defRPr>
            </a:pPr>
            <a:r>
              <a:t>刀神期權學院 | Pionex API + MCP 實戰教學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什麼是均線三刀流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88"/>
                </a:solidFill>
                <a:latin typeface="Noto Sans TC"/>
              </a:defRPr>
            </a:pPr>
            <a:r>
              <a:t>第一刀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快線 MA(7)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0C0"/>
                </a:solidFill>
                <a:latin typeface="Noto Sans TC"/>
              </a:defRPr>
            </a:pPr>
            <a:r>
              <a:t>短線動能指標</a:t>
            </a:r>
            <a:br/>
            <a:r>
              <a:t>快速捕捉價格轉折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3"/>
                </a:solidFill>
                <a:latin typeface="Noto Sans TC"/>
              </a:defRPr>
            </a:pPr>
            <a:r>
              <a:t>第二刀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3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中線 MA(25)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06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0C0"/>
                </a:solidFill>
                <a:latin typeface="Noto Sans TC"/>
              </a:defRPr>
            </a:pPr>
            <a:r>
              <a:t>中期趨勢確認</a:t>
            </a:r>
            <a:br/>
            <a:r>
              <a:t>過濾假突破雜訊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Noto Sans TC"/>
              </a:defRPr>
            </a:pPr>
            <a:r>
              <a:t>第三刀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慢線 MA(99)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6576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0C0"/>
                </a:solidFill>
                <a:latin typeface="Noto Sans TC"/>
              </a:defRPr>
            </a:pPr>
            <a:r>
              <a:t>長線趨勢方向</a:t>
            </a:r>
            <a:br/>
            <a:r>
              <a:t>判斷大盤多空格局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5"/>
                </a:solidFill>
                <a:latin typeface="Noto Sans TC"/>
              </a:defRPr>
            </a:pPr>
            <a:r>
              <a:t>為什麼用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13583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  <a:latin typeface="Noto Sans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AI 輔助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自然語言描述需求</a:t>
            </a:r>
            <a:br/>
            <a:r>
              <a:t>AI 自動生成完整程式碼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645920"/>
            <a:ext cx="2613583" cy="914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843"/>
                </a:solidFill>
                <a:latin typeface="Noto Sans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MCP 生態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Pionex MCP 直接操盤</a:t>
            </a:r>
            <a:br/>
            <a:r>
              <a:t>無需手寫 API 串接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645920"/>
            <a:ext cx="2613583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  <a:latin typeface="Noto Sans T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即時測試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DRY RUN 模擬交易</a:t>
            </a:r>
            <a:br/>
            <a:r>
              <a:t>確認策略再上實盤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645920"/>
            <a:ext cx="2613583" cy="914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843"/>
                </a:solidFill>
                <a:latin typeface="Noto Sans T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791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快速迭代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從零到上線</a:t>
            </a:r>
            <a:br/>
            <a:r>
              <a:t>一個對話搞定全部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5"/>
                </a:solidFill>
                <a:latin typeface="Noto Sans TC"/>
              </a:defRPr>
            </a:pPr>
            <a:r>
              <a:t>環境建置五步驟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72579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72579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88"/>
                </a:solidFill>
                <a:latin typeface="Noto Sans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F0F5"/>
                </a:solidFill>
                <a:latin typeface="Noto Sans TC"/>
              </a:defRPr>
            </a:pPr>
            <a: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C0"/>
                </a:solidFill>
                <a:latin typeface="Noto Sans TC"/>
              </a:defRPr>
            </a:pPr>
            <a:r>
              <a:t>npm install -g</a:t>
            </a:r>
            <a:br/>
            <a:r>
              <a:t>@anthropic-ai/claude-code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8379" y="1645920"/>
            <a:ext cx="2072579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58379" y="1645920"/>
            <a:ext cx="2072579" cy="914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5539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843"/>
                </a:solidFill>
                <a:latin typeface="Noto Sans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F0F5"/>
                </a:solidFill>
                <a:latin typeface="Noto Sans TC"/>
              </a:defRPr>
            </a:pPr>
            <a:r>
              <a:t>Python 3.11+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3749039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C0"/>
                </a:solidFill>
                <a:latin typeface="Noto Sans TC"/>
              </a:defRPr>
            </a:pPr>
            <a:r>
              <a:t>pip install httpx</a:t>
            </a:r>
            <a:br/>
            <a:r>
              <a:t>numpy websockets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558" y="1645920"/>
            <a:ext cx="2072579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59558" y="1645920"/>
            <a:ext cx="2072579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6718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  <a:latin typeface="Noto Sans T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F0F5"/>
                </a:solidFill>
                <a:latin typeface="Noto Sans TC"/>
              </a:defRPr>
            </a:pPr>
            <a:r>
              <a:t>Pionex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6718" y="3749039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C0"/>
                </a:solidFill>
                <a:latin typeface="Noto Sans TC"/>
              </a:defRPr>
            </a:pPr>
            <a:r>
              <a:t>申請 API Key</a:t>
            </a:r>
            <a:br/>
            <a:r>
              <a:t>開通交易權限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737" y="1645920"/>
            <a:ext cx="2072579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737" y="1645920"/>
            <a:ext cx="2072579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789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88"/>
                </a:solidFill>
                <a:latin typeface="Noto Sans T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7897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F0F5"/>
                </a:solidFill>
                <a:latin typeface="Noto Sans TC"/>
              </a:defRPr>
            </a:pPr>
            <a:r>
              <a:t>.env 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7897" y="3749039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C0"/>
                </a:solidFill>
                <a:latin typeface="Noto Sans TC"/>
              </a:defRPr>
            </a:pPr>
            <a:r>
              <a:t>API 密鑰安全存放</a:t>
            </a:r>
            <a:br/>
            <a:r>
              <a:t>絕不上傳到 Git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1916" y="1645920"/>
            <a:ext cx="2072579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61916" y="1645920"/>
            <a:ext cx="2072579" cy="914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9076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843"/>
                </a:solidFill>
                <a:latin typeface="Noto Sans TC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9076" y="2560320"/>
            <a:ext cx="17982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0F0F5"/>
                </a:solidFill>
                <a:latin typeface="Noto Sans TC"/>
              </a:defRPr>
            </a:pPr>
            <a:r>
              <a:t>專案結構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9076" y="3749039"/>
            <a:ext cx="17982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C0"/>
                </a:solidFill>
                <a:latin typeface="Noto Sans TC"/>
              </a:defRPr>
            </a:pPr>
            <a:r>
              <a:t>client / strategy</a:t>
            </a:r>
            <a:br/>
            <a:r>
              <a:t>risk / bot / 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Noto Sans TC"/>
              </a:defRPr>
            </a:pPr>
            <a:r>
              <a:t>HMAC SHA256 簽名機制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60612"/>
                </a:solidFill>
                <a:latin typeface="JetBrains Mono"/>
              </a:defRPr>
            </a:pPr>
            <a: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606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0F0F5"/>
                </a:solidFill>
                <a:latin typeface="JetBrains Mono"/>
              </a:defRPr>
            </a:pPr>
            <a:r>
              <a:t>ts = int(time.time() * 1000) + self._time_offset</a:t>
            </a:r>
            <a:br/>
            <a:r>
              <a:t>params["timestamp"] = str(ts)</a:t>
            </a:r>
            <a:br/>
            <a:r>
              <a:t>sorted_params = sorted(params.items())</a:t>
            </a:r>
            <a:br/>
            <a:r>
              <a:t>query = "&amp;".join(f"{k}={v}" for k, v in sorted_params)</a:t>
            </a:r>
            <a:br/>
            <a:r>
              <a:t>path_url = f"{path}?{query}"</a:t>
            </a:r>
            <a:br/>
            <a:br/>
            <a:r>
              <a:t>sign_str = f"{method}{path_url}"</a:t>
            </a:r>
            <a:br/>
            <a:r>
              <a:t>if body:</a:t>
            </a:r>
            <a:br/>
            <a:r>
              <a:t>    sign_str += body</a:t>
            </a:r>
            <a:br/>
            <a:br/>
            <a:r>
              <a:t>signature = hmac.new(</a:t>
            </a:r>
            <a:br/>
            <a:r>
              <a:t>    secret.encode(), sign_str.encode(), hashlib.sha256</a:t>
            </a:r>
            <a:br/>
            <a:r>
              <a:t>).hexdigest()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A0A0C0"/>
                </a:solidFill>
                <a:latin typeface="Noto Sans TC"/>
              </a:defRPr>
            </a:pPr>
            <a:r>
              <a:t>timestamp + sorted params + body -&gt; HMAC SHA256 -&gt; Header 簽名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Noto Sans TC"/>
              </a:defRPr>
            </a:pPr>
            <a:r>
              <a:t>Pionex API 雙軌架構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8BA8"/>
                </a:solidFill>
                <a:latin typeface="Noto Sans TC"/>
              </a:defRPr>
            </a:pPr>
            <a:r>
              <a:t>現貨 Spot API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路徑：/api/v1/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僅支援買入賣出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無法做空、無槓桿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41324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適合長期持有策略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  <a:latin typeface="Noto Sans TC"/>
              </a:defRPr>
            </a:pPr>
            <a:r>
              <a:t>合約 Futures API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路徑：/uapi/v1/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40156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支援多空雙向交易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40740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297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最高 100x 槓桿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41324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  <a:latin typeface="Noto Sans TC"/>
              </a:defRPr>
            </a:pPr>
            <a:r>
              <a:t>網格 Bot 自動套利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5"/>
                </a:solidFill>
                <a:latin typeface="Noto Sans TC"/>
              </a:defRPr>
            </a:pPr>
            <a:r>
              <a:t>三刀流信號強度分級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8288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D4A843"/>
                </a:solidFill>
                <a:latin typeface="Noto Sans TC"/>
              </a:defRPr>
            </a:pPr>
            <a:r>
              <a:t>1 刀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" y="3291840"/>
            <a:ext cx="246888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34747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  <a:latin typeface="Noto Sans TC"/>
              </a:defRPr>
            </a:pPr>
            <a:r>
              <a:t>弱信號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114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0A0C0"/>
                </a:solidFill>
                <a:latin typeface="Noto Sans TC"/>
              </a:defRPr>
            </a:pPr>
            <a:r>
              <a:t>快線穿越中線</a:t>
            </a:r>
            <a:br/>
            <a:r>
              <a:t>僅短線動能變化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18288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8B5CF6"/>
                </a:solidFill>
                <a:latin typeface="Noto Sans TC"/>
              </a:defRPr>
            </a:pPr>
            <a:r>
              <a:t>2 刀</a:t>
            </a:r>
          </a:p>
        </p:txBody>
      </p:sp>
      <p:sp>
        <p:nvSpPr>
          <p:cNvPr id="9" name="Rectangle 8"/>
          <p:cNvSpPr/>
          <p:nvPr/>
        </p:nvSpPr>
        <p:spPr>
          <a:xfrm>
            <a:off x="4718304" y="329184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34747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  <a:latin typeface="Noto Sans TC"/>
              </a:defRPr>
            </a:pPr>
            <a:r>
              <a:t>中信號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4114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0A0C0"/>
                </a:solidFill>
                <a:latin typeface="Noto Sans TC"/>
              </a:defRPr>
            </a:pPr>
            <a:r>
              <a:t>快線穿越中線+慢線</a:t>
            </a:r>
            <a:br/>
            <a:r>
              <a:t>趨勢開始確認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3944" y="2103120"/>
            <a:ext cx="18288" cy="3200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8704" y="18288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FF88"/>
                </a:solidFill>
                <a:latin typeface="Noto Sans TC"/>
              </a:defRPr>
            </a:pPr>
            <a:r>
              <a:t>3 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5904" y="3291840"/>
            <a:ext cx="246888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34747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0F0F5"/>
                </a:solidFill>
                <a:latin typeface="Noto Sans TC"/>
              </a:defRPr>
            </a:pPr>
            <a:r>
              <a:t>強信號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4114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0A0C0"/>
                </a:solidFill>
                <a:latin typeface="Noto Sans TC"/>
              </a:defRPr>
            </a:pPr>
            <a:r>
              <a:t>三線同向排列</a:t>
            </a:r>
            <a:br/>
            <a:r>
              <a:t>全面趨勢翻轉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1544" y="2103120"/>
            <a:ext cx="18288" cy="3200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5"/>
                </a:solidFill>
                <a:latin typeface="Noto Sans TC"/>
              </a:defRPr>
            </a:pPr>
            <a:r>
              <a:t>三刀流策略核心邏輯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60612"/>
                </a:solidFill>
                <a:latin typeface="JetBrains Mono"/>
              </a:defRPr>
            </a:pPr>
            <a: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606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0F0F5"/>
                </a:solidFill>
                <a:latin typeface="JetBrains Mono"/>
              </a:defRPr>
            </a:pPr>
            <a:r>
              <a:t># 三刀流信號判定</a:t>
            </a:r>
            <a:br/>
            <a:r>
              <a:t>fast = SMA(close_prices, period=7)</a:t>
            </a:r>
            <a:br/>
            <a:r>
              <a:t>mid  = SMA(close_prices, period=25)</a:t>
            </a:r>
            <a:br/>
            <a:r>
              <a:t>slow = SMA(close_prices, period=99)</a:t>
            </a:r>
            <a:br/>
            <a:br/>
            <a:r>
              <a:t>blade_1 = fast &gt; mid    # 第一刀：快線 &gt; 中線</a:t>
            </a:r>
            <a:br/>
            <a:r>
              <a:t>blade_2 = fast &gt; slow   # 第二刀：快線 &gt; 慢線</a:t>
            </a:r>
            <a:br/>
            <a:r>
              <a:t>blade_3 = mid  &gt; slow   # 第三刀：中線 &gt; 慢線</a:t>
            </a:r>
            <a:br/>
            <a:br/>
            <a:r>
              <a:t>if blade_1 and blade_2 and blade_3:</a:t>
            </a:r>
            <a:br/>
            <a:r>
              <a:t>    signal = "STRONG_LONG"   # 三刀齊發 -&gt; 強做多</a:t>
            </a:r>
            <a:br/>
            <a:r>
              <a:t>elif not blade_1 and not blade_2 and not blade_3:</a:t>
            </a:r>
            <a:br/>
            <a:r>
              <a:t>    signal = "STRONG_SHORT"  # 三刀反轉 -&gt; 強做空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5"/>
                </a:solidFill>
                <a:latin typeface="Noto Sans TC"/>
              </a:defRPr>
            </a:pPr>
            <a:r>
              <a:t>合約網格 Bot 自動化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88"/>
                </a:solidFill>
                <a:latin typeface="Noto Sans TC"/>
              </a:defRPr>
            </a:pPr>
            <a:r>
              <a:t>信號觸發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建立網格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0C0"/>
                </a:solidFill>
                <a:latin typeface="Noto Sans TC"/>
              </a:defRPr>
            </a:pPr>
            <a:r>
              <a:t>MA 三刀齊發時</a:t>
            </a:r>
            <a:br/>
            <a:r>
              <a:t>自動建立 futures_grid</a:t>
            </a:r>
            <a:br/>
            <a:r>
              <a:t>設定趨勢方向與槓桿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3"/>
                </a:solidFill>
                <a:latin typeface="Noto Sans TC"/>
              </a:defRPr>
            </a:pPr>
            <a:r>
              <a:t>運行監控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3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動態調整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06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0C0"/>
                </a:solidFill>
                <a:latin typeface="Noto Sans TC"/>
              </a:defRPr>
            </a:pPr>
            <a:r>
              <a:t>即時查詢 Bot 狀態</a:t>
            </a:r>
            <a:br/>
            <a:r>
              <a:t>根據行情調整網格</a:t>
            </a:r>
            <a:br/>
            <a:r>
              <a:t>範圍與投入金額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Noto Sans TC"/>
              </a:defRPr>
            </a:pPr>
            <a:r>
              <a:t>信號反轉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0F5"/>
                </a:solidFill>
                <a:latin typeface="Noto Sans TC"/>
              </a:defRPr>
            </a:pPr>
            <a:r>
              <a:t>關閉換向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6576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0A0C0"/>
                </a:solidFill>
                <a:latin typeface="Noto Sans TC"/>
              </a:defRPr>
            </a:pPr>
            <a:r>
              <a:t>趨勢翻轉時</a:t>
            </a:r>
            <a:br/>
            <a:r>
              <a:t>自動關閉現有網格</a:t>
            </a:r>
            <a:br/>
            <a:r>
              <a:t>反向開新網格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5"/>
                </a:solidFill>
                <a:latin typeface="Noto Sans TC"/>
              </a:defRPr>
            </a:pPr>
            <a:r>
              <a:t>風控與資金管理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13583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  <a:latin typeface="Noto Sans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止損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單筆虧損 2% 上限</a:t>
            </a:r>
            <a:br/>
            <a:r>
              <a:t>自動觸發平倉保護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645920"/>
            <a:ext cx="2613583" cy="914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843"/>
                </a:solidFill>
                <a:latin typeface="Noto Sans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止盈 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獲利 4% 自動止盈</a:t>
            </a:r>
            <a:br/>
            <a:r>
              <a:t>鎖定利潤不回吐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645920"/>
            <a:ext cx="2613583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  <a:latin typeface="Noto Sans T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槓桿上限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最高 5x 槓桿</a:t>
            </a:r>
            <a:br/>
            <a:r>
              <a:t>控制爆倉風險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645920"/>
            <a:ext cx="2613583" cy="438912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645920"/>
            <a:ext cx="2613583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88"/>
                </a:solidFill>
                <a:latin typeface="Noto Sans T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791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0F5"/>
                </a:solidFill>
                <a:latin typeface="Noto Sans TC"/>
              </a:defRPr>
            </a:pPr>
            <a:r>
              <a:t>日虧損限制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C0"/>
                </a:solidFill>
                <a:latin typeface="Noto Sans TC"/>
              </a:defRPr>
            </a:pPr>
            <a:r>
              <a:t>當日虧損 5% 停止</a:t>
            </a:r>
            <a:br/>
            <a:r>
              <a:t>隔日自動重新啟動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2743200"/>
            <a:ext cx="7315200" cy="4572000"/>
          </a:xfrm>
          <a:prstGeom prst="parallelogram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4114800"/>
            <a:ext cx="6400800" cy="3657600"/>
          </a:xfrm>
          <a:prstGeom prst="parallelogram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600" b="1">
                <a:solidFill>
                  <a:srgbClr val="F0F0F5"/>
                </a:solidFill>
                <a:latin typeface="Noto Sans TC"/>
              </a:defRPr>
            </a:pPr>
            <a:r>
              <a:t>DRY RUN</a:t>
            </a:r>
            <a:br/>
            <a:r>
              <a:t>→ 實盤上線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A0A0C0"/>
                </a:solidFill>
                <a:latin typeface="Noto Sans TC"/>
              </a:defRPr>
            </a:pPr>
            <a:r>
              <a:t>模擬測試驗證策略 → WebSocket 即時監控</a:t>
            </a:r>
            <a:br/>
            <a:r>
              <a:t>→ 錯誤排除 → .env DRY_RUN=false → 開始獲利</a:t>
            </a:r>
          </a:p>
        </p:txBody>
      </p:sp>
      <p:sp>
        <p:nvSpPr>
          <p:cNvPr id="6" name="Right Triangle 5"/>
          <p:cNvSpPr/>
          <p:nvPr/>
        </p:nvSpPr>
        <p:spPr>
          <a:xfrm>
            <a:off x="11277295" y="0"/>
            <a:ext cx="914400" cy="914400"/>
          </a:xfrm>
          <a:prstGeom prst="rtTriangl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0F0F5"/>
                </a:solidFill>
                <a:latin typeface="Noto Sans TC"/>
              </a:defRPr>
            </a:pPr>
            <a: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305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A"/>
                </a:solidFill>
                <a:latin typeface="Noto Sans T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0F0F5"/>
                </a:solidFill>
                <a:latin typeface="Noto Sans TC"/>
              </a:defRPr>
            </a:pPr>
            <a:r>
              <a:t>申請 Pionex API Key</a:t>
            </a:r>
          </a:p>
        </p:txBody>
      </p:sp>
      <p:sp>
        <p:nvSpPr>
          <p:cNvPr id="9" name="Oval 8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A"/>
                </a:solidFill>
                <a:latin typeface="Noto Sans T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0F0F5"/>
                </a:solidFill>
                <a:latin typeface="Noto Sans TC"/>
              </a:defRPr>
            </a:pPr>
            <a:r>
              <a:t>安裝 Claude Code</a:t>
            </a:r>
          </a:p>
        </p:txBody>
      </p:sp>
      <p:sp>
        <p:nvSpPr>
          <p:cNvPr id="12" name="Oval 11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A"/>
                </a:solidFill>
                <a:latin typeface="Noto Sans T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0F0F5"/>
                </a:solidFill>
                <a:latin typeface="Noto Sans TC"/>
              </a:defRPr>
            </a:pPr>
            <a:r>
              <a:t>加入刀神交易社群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A843"/>
                </a:solidFill>
                <a:latin typeface="Noto Sans TC"/>
              </a:defRPr>
            </a:pPr>
            <a:r>
              <a:t>刀神期權學院 | pionex.com |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