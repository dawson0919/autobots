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 rot="300000">
            <a:off x="8229600" y="457200"/>
            <a:ext cx="4572000" cy="6400800"/>
          </a:xfrm>
          <a:prstGeom prst="parallelogram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E2E8F0"/>
                </a:solidFill>
                <a:latin typeface="Arial"/>
              </a:defRPr>
            </a:pPr>
            <a:r>
              <a:t>AUTOBOTS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366F1"/>
                </a:solidFill>
                <a:latin typeface="Arial"/>
              </a:defRPr>
            </a:pPr>
            <a:r>
              <a:t>AI 自動交易 + 運動預測系統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Arial"/>
              </a:defRPr>
            </a:pPr>
            <a:r>
              <a:t>完整教學 — 從架構設計到實戰部署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urier New"/>
              </a:defRPr>
            </a:pPr>
            <a:r>
              <a:t>Python + Flask + ESPN API + Polymarket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  <a:latin typeface="Arial"/>
              </a:defRPr>
            </a:pPr>
            <a:r>
              <a:t>2026 教學版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Arial"/>
              </a:defRPr>
            </a:pPr>
            <a:r>
              <a:t>系統五大模組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rial"/>
              </a:defRPr>
            </a:pPr>
            <a:r>
              <a:t>一個平台涵蓋交易、預測、信號、風控、部署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2157984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7922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2E8F0"/>
                </a:solidFill>
                <a:latin typeface="Arial"/>
              </a:defRPr>
            </a:pPr>
            <a:r>
              <a:t>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Arial"/>
              </a:defRPr>
            </a:pPr>
            <a:r>
              <a:t>NBA 預測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06040"/>
            <a:ext cx="1883664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Elo + XGBoost</a:t>
            </a:r>
            <a:br/>
            <a:r>
              <a:t>傷兵報告</a:t>
            </a:r>
            <a:br/>
            <a:r>
              <a:t>台灣運彩整合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06624" y="1645920"/>
            <a:ext cx="2157984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4" y="1783080"/>
            <a:ext cx="17922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2E8F0"/>
                </a:solidFill>
                <a:latin typeface="Arial"/>
              </a:defRPr>
            </a:pPr>
            <a:r>
              <a:t>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9504" y="2240280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Arial"/>
              </a:defRPr>
            </a:pPr>
            <a:r>
              <a:t>MLB 預測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3784" y="2606040"/>
            <a:ext cx="1883664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Elo + ERA</a:t>
            </a:r>
            <a:br/>
            <a:r>
              <a:t>牛棚分析</a:t>
            </a:r>
            <a:br/>
            <a:r>
              <a:t>星等推薦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7488" y="1645920"/>
            <a:ext cx="2157984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1783080"/>
            <a:ext cx="17922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2E8F0"/>
                </a:solidFill>
                <a:latin typeface="Arial"/>
              </a:defRPr>
            </a:pPr>
            <a:r>
              <a:t>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2240280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366F1"/>
                </a:solidFill>
                <a:latin typeface="Arial"/>
              </a:defRPr>
            </a:pPr>
            <a:r>
              <a:t>加密貨幣信號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4648" y="2606040"/>
            <a:ext cx="1883664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BTC / ETH / WTI</a:t>
            </a:r>
            <a:br/>
            <a:r>
              <a:t>Polymarket 數據</a:t>
            </a:r>
            <a:br/>
            <a:r>
              <a:t>即時信號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88352" y="1645920"/>
            <a:ext cx="2157984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71231" y="1783080"/>
            <a:ext cx="17922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2E8F0"/>
                </a:solidFill>
                <a:latin typeface="Arial"/>
              </a:defRPr>
            </a:pPr>
            <a: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1" y="2240280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Arial"/>
              </a:defRPr>
            </a:pPr>
            <a:r>
              <a:t>自動交易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2" y="2606040"/>
            <a:ext cx="1883664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Pionex 網格</a:t>
            </a:r>
            <a:br/>
            <a:r>
              <a:t>信號管理</a:t>
            </a:r>
            <a:br/>
            <a:r>
              <a:t>投資組合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29216" y="1645920"/>
            <a:ext cx="2157984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12096" y="1783080"/>
            <a:ext cx="17922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2E8F0"/>
                </a:solidFill>
                <a:latin typeface="Arial"/>
              </a:defRPr>
            </a:pPr>
            <a: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12096" y="2240280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Arial"/>
              </a:defRPr>
            </a:pPr>
            <a:r>
              <a:t>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66376" y="2606040"/>
            <a:ext cx="1883664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Flask Server</a:t>
            </a:r>
            <a:br/>
            <a:r>
              <a:t>7 個頁面</a:t>
            </a:r>
            <a:br/>
            <a:r>
              <a:t>即時刷新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ourier New"/>
              </a:defRPr>
            </a:pPr>
            <a:r>
              <a:t>全部開源 — 解壓即用 — AI 可讀安裝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3415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63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2E8F0"/>
                </a:solidFill>
                <a:latin typeface="Arial"/>
              </a:defRPr>
            </a:pPr>
            <a:r>
              <a:t>系統架構與技術棧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Arial"/>
              </a:defRPr>
            </a:pPr>
            <a:r>
              <a:t>了解 AUTOBOTS 的整體設計理念與模組關係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Arial"/>
              </a:defRPr>
            </a:pPr>
            <a:r>
              <a:t>核心架構 — Hub &amp; Spoke 設計</a:t>
            </a:r>
          </a:p>
        </p:txBody>
      </p:sp>
      <p:sp>
        <p:nvSpPr>
          <p:cNvPr id="4" name="Oval 3"/>
          <p:cNvSpPr/>
          <p:nvPr/>
        </p:nvSpPr>
        <p:spPr>
          <a:xfrm>
            <a:off x="4937760" y="2011680"/>
            <a:ext cx="2286000" cy="22860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0" y="25603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E8F0"/>
                </a:solidFill>
                <a:latin typeface="Arial"/>
              </a:defRPr>
            </a:pPr>
            <a:r>
              <a:t>Dashboard</a:t>
            </a:r>
            <a:br/>
            <a:r>
              <a:t>Flask 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20116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  <a:latin typeface="Arial"/>
              </a:defRPr>
            </a:pPr>
            <a:r>
              <a:t>🏀 NBA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ourier New"/>
              </a:defRPr>
            </a:pPr>
            <a:r>
              <a:t>nba_predictor.py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371600"/>
            <a:ext cx="20116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  <a:latin typeface="Arial"/>
              </a:defRPr>
            </a:pPr>
            <a:r>
              <a:t>⚾ MLB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ourier New"/>
              </a:defRPr>
            </a:pPr>
            <a:r>
              <a:t>mlb_predictor.py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20116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  <a:latin typeface="Arial"/>
              </a:defRPr>
            </a:pPr>
            <a:r>
              <a:t>₿ Crypto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ourier New"/>
              </a:defRPr>
            </a:pPr>
            <a:r>
              <a:t>btc/eth/wti.html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3657600"/>
            <a:ext cx="20116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0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  <a:latin typeface="Arial"/>
              </a:defRPr>
            </a:pPr>
            <a:r>
              <a:t>📈 Trading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4206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ourier New"/>
              </a:defRPr>
            </a:pPr>
            <a:r>
              <a:t>signal_manager.py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5486400"/>
            <a:ext cx="20116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5623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  <a:latin typeface="Arial"/>
              </a:defRPr>
            </a:pPr>
            <a:r>
              <a:t>🎯 Polymarket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6035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ourier New"/>
              </a:defRPr>
            </a:pPr>
            <a:r>
              <a:t>polymarket.html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5486400"/>
            <a:ext cx="20116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5623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  <a:latin typeface="Arial"/>
              </a:defRPr>
            </a:pPr>
            <a:r>
              <a:t>🛡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6035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ourier New"/>
              </a:defRPr>
            </a:pPr>
            <a:r>
              <a:t>portfolio_agent.py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Arial"/>
              </a:defRPr>
            </a:pPr>
            <a:r>
              <a:t>技術棧總覽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286000" cy="594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07007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Arial"/>
              </a:defRPr>
            </a:pPr>
            <a:r>
              <a:t>前端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097280"/>
            <a:ext cx="8778240" cy="59436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1207007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HTML / CSS / JavaScript（無框架、單檔部署）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286000" cy="594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366F1"/>
                </a:solidFill>
                <a:latin typeface="Arial"/>
              </a:defRPr>
            </a:pPr>
            <a:r>
              <a:t>後端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828800"/>
            <a:ext cx="8778240" cy="59436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93852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Python Flask + httpx + numpy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2286000" cy="594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700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Arial"/>
              </a:defRPr>
            </a:pPr>
            <a:r>
              <a:t>預測引擎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2560320"/>
            <a:ext cx="8778240" cy="59436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267004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Elo 評分系統 + XGBoost 機器學習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91840"/>
            <a:ext cx="2286000" cy="594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015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Arial"/>
              </a:defRPr>
            </a:pPr>
            <a:r>
              <a:t>數據源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3291840"/>
            <a:ext cx="8778240" cy="59436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340156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ESPN API + Polymarket API + Pionex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23360"/>
            <a:ext cx="2286000" cy="594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330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Arial"/>
              </a:defRPr>
            </a:pPr>
            <a:r>
              <a:t>交易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4023360"/>
            <a:ext cx="8778240" cy="59436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0" y="413308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Pionex Bot API（期貨網格自動交易）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754880"/>
            <a:ext cx="2286000" cy="594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646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366F1"/>
                </a:solidFill>
                <a:latin typeface="Arial"/>
              </a:defRPr>
            </a:pPr>
            <a:r>
              <a:t>策略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6080" y="4754880"/>
            <a:ext cx="8778240" cy="59436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486460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TradingView Pine Script + Python Signal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486400"/>
            <a:ext cx="2286000" cy="594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5961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4A3B8"/>
                </a:solidFill>
                <a:latin typeface="Arial"/>
              </a:defRPr>
            </a:pPr>
            <a:r>
              <a:t>部署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80" y="5486400"/>
            <a:ext cx="8778240" cy="59436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0" y="559612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ourier New"/>
              </a:defRPr>
            </a:pPr>
            <a:r>
              <a:t>本地 / Railway / Heroku（Procfile 已含）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457200"/>
            <a:ext cx="4572000" cy="4572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33415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7004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E2E8F0"/>
                </a:solidFill>
                <a:latin typeface="Arial"/>
              </a:defRPr>
            </a:pPr>
            <a:r>
              <a:t>NBA 預測系統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Arial"/>
              </a:defRPr>
            </a:pPr>
            <a:r>
              <a:t>Elo 評分 + XGBoost + ESPN 即時數據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13716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0">
                <a:solidFill>
                  <a:srgbClr val="E2E8F0"/>
                </a:solidFill>
                <a:latin typeface="Arial"/>
              </a:defRPr>
            </a:pPr>
            <a:r>
              <a:t>🏀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Arial"/>
              </a:defRPr>
            </a:pPr>
            <a:r>
              <a:t>NBA 模型三大支柱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rial"/>
              </a:defRPr>
            </a:pPr>
            <a:r>
              <a:t>三層數據融合，驅動高精度預測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27432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5439" y="1508760"/>
            <a:ext cx="3474720" cy="4389120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2287" y="1417320"/>
            <a:ext cx="34747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2287" y="1417320"/>
            <a:ext cx="34747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167" y="1600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Arial"/>
              </a:defRPr>
            </a:pPr>
            <a:r>
              <a:t>Elo 評分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167" y="210312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每場比賽後更新</a:t>
            </a:r>
          </a:p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勝者 +K / 敗者 -K</a:t>
            </a:r>
          </a:p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主場優勢 +100</a:t>
            </a:r>
          </a:p>
        </p:txBody>
      </p:sp>
      <p:sp>
        <p:nvSpPr>
          <p:cNvPr id="11" name="Oval 10"/>
          <p:cNvSpPr/>
          <p:nvPr/>
        </p:nvSpPr>
        <p:spPr>
          <a:xfrm>
            <a:off x="1843887" y="2011680"/>
            <a:ext cx="731520" cy="7315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43887" y="207568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E8F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1639" y="1508760"/>
            <a:ext cx="3474720" cy="4389120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58487" y="1417320"/>
            <a:ext cx="34747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58487" y="1417320"/>
            <a:ext cx="34747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367" y="1600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Arial"/>
              </a:defRPr>
            </a:pPr>
            <a:r>
              <a:t>XGBoost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367" y="210312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200+ 特徵訓練</a:t>
            </a:r>
          </a:p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勝率 + 分差預測</a:t>
            </a:r>
          </a:p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自動特徵選擇</a:t>
            </a:r>
          </a:p>
        </p:txBody>
      </p:sp>
      <p:sp>
        <p:nvSpPr>
          <p:cNvPr id="18" name="Oval 17"/>
          <p:cNvSpPr/>
          <p:nvPr/>
        </p:nvSpPr>
        <p:spPr>
          <a:xfrm>
            <a:off x="5730087" y="2011680"/>
            <a:ext cx="731520" cy="7315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30087" y="207568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E8F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17839" y="1508760"/>
            <a:ext cx="3474720" cy="4389120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44687" y="1417320"/>
            <a:ext cx="34747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44687" y="141732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7567" y="1600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Arial"/>
              </a:defRPr>
            </a:pPr>
            <a:r>
              <a:t>ESPN 即時數據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7567" y="210312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戰績、排名</a:t>
            </a:r>
          </a:p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傷兵報告</a:t>
            </a:r>
          </a:p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即時比分驗證</a:t>
            </a:r>
          </a:p>
        </p:txBody>
      </p:sp>
      <p:sp>
        <p:nvSpPr>
          <p:cNvPr id="25" name="Oval 24"/>
          <p:cNvSpPr/>
          <p:nvPr/>
        </p:nvSpPr>
        <p:spPr>
          <a:xfrm>
            <a:off x="9616287" y="201168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16287" y="207568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E8F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ourier New"/>
              </a:defRPr>
            </a:pPr>
            <a:r>
              <a:t>三者協同 → 當日即時預測 + 歷史回測驗證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Arial"/>
              </a:defRPr>
            </a:pPr>
            <a:r>
              <a:t>預測流程 vs 驗證機制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rial"/>
              </a:defRPr>
            </a:pPr>
            <a:r>
              <a:t>從數據拉取到勝率統計的完整閉環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16168" y="1280160"/>
            <a:ext cx="54864" cy="502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234440"/>
            <a:ext cx="539496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73152" cy="640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Arial"/>
              </a:defRPr>
            </a:pPr>
            <a:r>
              <a:t>預測流程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03120"/>
            <a:ext cx="5394960" cy="7498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64008" cy="7498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58568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Arial"/>
              </a:defRPr>
            </a:pPr>
            <a:r>
              <a:t>1. 拉取 ESPN 賽程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063239"/>
            <a:ext cx="5394960" cy="7498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063239"/>
            <a:ext cx="64008" cy="7498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218687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Arial"/>
              </a:defRPr>
            </a:pPr>
            <a:r>
              <a:t>2. 計算 Elo 勝率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023360"/>
            <a:ext cx="5394960" cy="7498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64008" cy="7498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178808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Arial"/>
              </a:defRPr>
            </a:pPr>
            <a:r>
              <a:t>3. B2B / 休息天調整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983480"/>
            <a:ext cx="5394960" cy="7498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983480"/>
            <a:ext cx="64008" cy="7498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138928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Arial"/>
              </a:defRPr>
            </a:pPr>
            <a:r>
              <a:t>4. 總分預測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234440"/>
            <a:ext cx="539496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234440"/>
            <a:ext cx="73152" cy="640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325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Arial"/>
              </a:defRPr>
            </a:pPr>
            <a:r>
              <a:t>驗證機制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103120"/>
            <a:ext cx="5394960" cy="7498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103120"/>
            <a:ext cx="64008" cy="7498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258568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Arial"/>
              </a:defRPr>
            </a:pPr>
            <a:r>
              <a:t>1. 即時比分對照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063239"/>
            <a:ext cx="5394960" cy="7498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063239"/>
            <a:ext cx="64008" cy="7498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218687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Arial"/>
              </a:defRPr>
            </a:pPr>
            <a:r>
              <a:t>2. 勝負正確 ✅ / 錯誤 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023360"/>
            <a:ext cx="5394960" cy="7498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4023360"/>
            <a:ext cx="64008" cy="7498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178808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Arial"/>
              </a:defRPr>
            </a:pPr>
            <a:r>
              <a:t>3. 總分誤差檢核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983480"/>
            <a:ext cx="5394960" cy="7498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983480"/>
            <a:ext cx="64008" cy="7498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5138928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Arial"/>
              </a:defRPr>
            </a:pPr>
            <a:r>
              <a:t>4. 今日/本周/本月勝率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200400"/>
            <a:ext cx="4572000" cy="4572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Arial"/>
              </a:defRPr>
            </a:pPr>
            <a:r>
              <a:t>NBA 回測績效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rial"/>
              </a:defRPr>
            </a:pPr>
            <a:r>
              <a:t>基於歷史賽事數據回測，持續優化模型準確度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995" y="1709928"/>
            <a:ext cx="2560320" cy="3474720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7987" y="1645920"/>
            <a:ext cx="2560320" cy="3474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7987" y="1645920"/>
            <a:ext cx="256032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987" y="219456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6366F1"/>
                </a:solidFill>
                <a:latin typeface="Arial"/>
              </a:defRPr>
            </a:pPr>
            <a:r>
              <a:t>65–70%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6627" y="3566160"/>
            <a:ext cx="1463039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987" y="3749039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Arial"/>
              </a:defRPr>
            </a:pPr>
            <a:r>
              <a:t>整體勝率</a:t>
            </a:r>
          </a:p>
        </p:txBody>
      </p:sp>
      <p:sp>
        <p:nvSpPr>
          <p:cNvPr id="13" name="Oval 12"/>
          <p:cNvSpPr/>
          <p:nvPr/>
        </p:nvSpPr>
        <p:spPr>
          <a:xfrm>
            <a:off x="906627" y="2103120"/>
            <a:ext cx="1463039" cy="13716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93795" y="1709928"/>
            <a:ext cx="2560320" cy="3474720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29787" y="1645920"/>
            <a:ext cx="2560320" cy="3474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29787" y="1645920"/>
            <a:ext cx="256032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29787" y="219456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2C55E"/>
                </a:solidFill>
                <a:latin typeface="Arial"/>
              </a:defRPr>
            </a:pPr>
            <a:r>
              <a:t>78%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78427" y="3566160"/>
            <a:ext cx="1463039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29787" y="3749039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Arial"/>
              </a:defRPr>
            </a:pPr>
            <a:r>
              <a:t>高信心命中</a:t>
            </a:r>
          </a:p>
        </p:txBody>
      </p:sp>
      <p:sp>
        <p:nvSpPr>
          <p:cNvPr id="20" name="Oval 19"/>
          <p:cNvSpPr/>
          <p:nvPr/>
        </p:nvSpPr>
        <p:spPr>
          <a:xfrm>
            <a:off x="3878427" y="2103120"/>
            <a:ext cx="1463039" cy="13716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65595" y="1709928"/>
            <a:ext cx="2560320" cy="3474720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1587" y="1645920"/>
            <a:ext cx="2560320" cy="3474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1587" y="1645920"/>
            <a:ext cx="256032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1587" y="219456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59E0B"/>
                </a:solidFill>
                <a:latin typeface="Arial"/>
              </a:defRPr>
            </a:pPr>
            <a:r>
              <a:t>±10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0227" y="3566160"/>
            <a:ext cx="1463039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1587" y="3749039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Arial"/>
              </a:defRPr>
            </a:pPr>
            <a:r>
              <a:t>總分誤差容忍</a:t>
            </a:r>
          </a:p>
        </p:txBody>
      </p:sp>
      <p:sp>
        <p:nvSpPr>
          <p:cNvPr id="27" name="Oval 26"/>
          <p:cNvSpPr/>
          <p:nvPr/>
        </p:nvSpPr>
        <p:spPr>
          <a:xfrm>
            <a:off x="6850227" y="2103120"/>
            <a:ext cx="1463039" cy="1371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37395" y="1709928"/>
            <a:ext cx="2560320" cy="3474720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73387" y="1645920"/>
            <a:ext cx="2560320" cy="3474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73387" y="1645920"/>
            <a:ext cx="2560320" cy="9144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73387" y="219456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E879F9"/>
                </a:solidFill>
                <a:latin typeface="Arial"/>
              </a:defRPr>
            </a:pPr>
            <a:r>
              <a:t>30+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22027" y="3566160"/>
            <a:ext cx="1463039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73387" y="3749039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Arial"/>
              </a:defRPr>
            </a:pPr>
            <a:r>
              <a:t>每日回測場次</a:t>
            </a:r>
          </a:p>
        </p:txBody>
      </p:sp>
      <p:sp>
        <p:nvSpPr>
          <p:cNvPr id="34" name="Oval 33"/>
          <p:cNvSpPr/>
          <p:nvPr/>
        </p:nvSpPr>
        <p:spPr>
          <a:xfrm>
            <a:off x="9822027" y="2103120"/>
            <a:ext cx="1463039" cy="1371600"/>
          </a:xfrm>
          <a:prstGeom prst="ellipse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* 基於 2023–2024 NBA 賽季回測數據｜高信心 = 勝率差 &gt; 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Arial"/>
              </a:defRPr>
            </a:pPr>
            <a:r>
              <a:t>關鍵功能：傷兵 + 運彩整合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rial"/>
              </a:defRPr>
            </a:pPr>
            <a:r>
              <a:t>完整的賽事分析生態，從傷兵資訊到投注決策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731520"/>
            <a:ext cx="3474720" cy="5669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0" y="731520"/>
            <a:ext cx="347472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9144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Arial"/>
              </a:defRPr>
            </a:pPr>
            <a:r>
              <a:t>功能亮點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463040"/>
            <a:ext cx="3108960" cy="118872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53619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366F1"/>
                </a:solidFill>
                <a:latin typeface="Arial"/>
              </a:defRPr>
            </a:pPr>
            <a:r>
              <a:t>ESPN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057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即時傷兵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2880360"/>
            <a:ext cx="3108960" cy="118872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29535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Arial"/>
              </a:defRPr>
            </a:pPr>
            <a:r>
              <a:t>UTC+8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474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台灣時區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4297680"/>
            <a:ext cx="3108960" cy="118872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437083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  <a:latin typeface="Arial"/>
              </a:defRPr>
            </a:pPr>
            <a:r>
              <a:t>KPI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92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三段統計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1280160"/>
            <a:ext cx="777240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1280160"/>
            <a:ext cx="64008" cy="7132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" y="1536192"/>
            <a:ext cx="201168" cy="20116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1435607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Arial"/>
              </a:defRPr>
            </a:pPr>
            <a:r>
              <a:t>ESPN Injuries API 即時傷兵報告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194560"/>
            <a:ext cx="777240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194560"/>
            <a:ext cx="64008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4360" y="2450591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2350008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Arial"/>
              </a:defRPr>
            </a:pPr>
            <a:r>
              <a:t>明星球員缺陣自動標示 ⚠️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108960"/>
            <a:ext cx="777240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108960"/>
            <a:ext cx="64008" cy="7132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4360" y="3364991"/>
            <a:ext cx="201168" cy="20116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3264408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Arial"/>
              </a:defRPr>
            </a:pPr>
            <a:r>
              <a:t>台灣運彩日期對齊（UTC+8 分日）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023360"/>
            <a:ext cx="777240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4023360"/>
            <a:ext cx="64008" cy="7132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4360" y="4279392"/>
            <a:ext cx="201168" cy="20116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178808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Arial"/>
              </a:defRPr>
            </a:pPr>
            <a:r>
              <a:t>Next Games 自動抓取下一輪比賽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937760"/>
            <a:ext cx="777240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4937760"/>
            <a:ext cx="64008" cy="7132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94360" y="5193792"/>
            <a:ext cx="201168" cy="20116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093208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Arial"/>
              </a:defRPr>
            </a:pPr>
            <a:r>
              <a:t>勝率 KPI：今日 / 本周 / 本月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0" y="0"/>
            <a:ext cx="505937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194560"/>
            <a:ext cx="100584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76272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E2E8F0"/>
                </a:solidFill>
                <a:latin typeface="Arial"/>
              </a:rPr>
              <a:t>MLB 預測系統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4A3B8"/>
                </a:solidFill>
                <a:latin typeface="Arial"/>
              </a:rPr>
              <a:t>Elo + 先發投手 ERA + 牛棚 + 傷兵</a:t>
            </a:r>
          </a:p>
        </p:txBody>
      </p:sp>
      <p:sp>
        <p:nvSpPr>
          <p:cNvPr id="8" name="Rectangle 7"/>
          <p:cNvSpPr/>
          <p:nvPr/>
        </p:nvSpPr>
        <p:spPr>
          <a:xfrm>
            <a:off x="7086600" y="54864"/>
            <a:ext cx="41148" cy="680313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0" y="2011680"/>
            <a:ext cx="1645920" cy="16459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41280" y="3474720"/>
            <a:ext cx="2194560" cy="21945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4754880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MLB 模型六大因子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2377440" cy="411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566160" cy="21031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64008" cy="21031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124712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6366F1"/>
                </a:solidFill>
                <a:latin typeface="Arial"/>
              </a:rPr>
              <a:t>35%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7647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E8F0"/>
                </a:solidFill>
                <a:latin typeface="Arial"/>
              </a:rPr>
              <a:t>Elo 評分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25856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球隊整體實力排名與動態勝率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960120"/>
            <a:ext cx="3566160" cy="21031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960120"/>
            <a:ext cx="64008" cy="2103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124712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2C55E"/>
                </a:solidFill>
                <a:latin typeface="Arial"/>
              </a:rPr>
              <a:t>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7647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E8F0"/>
                </a:solidFill>
                <a:latin typeface="Arial"/>
              </a:rPr>
              <a:t>先發 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5856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先發投手近期防禦率與球速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3296" y="960120"/>
            <a:ext cx="3566160" cy="21031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960120"/>
            <a:ext cx="64008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124712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59E0B"/>
                </a:solidFill>
                <a:latin typeface="Arial"/>
              </a:rPr>
              <a:t>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7647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E8F0"/>
                </a:solidFill>
                <a:latin typeface="Arial"/>
              </a:rPr>
              <a:t>得失分差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25856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近 15 場攻守平衡指標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10128"/>
            <a:ext cx="3566160" cy="21031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310128"/>
            <a:ext cx="64008" cy="21031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47472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11D48"/>
                </a:solidFill>
                <a:latin typeface="Arial"/>
              </a:rPr>
              <a:t>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E8F0"/>
                </a:solidFill>
                <a:latin typeface="Arial"/>
              </a:rPr>
              <a:t>牛棚品質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4608576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後援投手整體 ERA &amp; 使用頻率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3310128"/>
            <a:ext cx="3566160" cy="21031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0248" y="3310128"/>
            <a:ext cx="64008" cy="2103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347472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6B6D4"/>
                </a:solidFill>
                <a:latin typeface="Arial"/>
              </a:rP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E8F0"/>
                </a:solidFill>
                <a:latin typeface="Arial"/>
              </a:rPr>
              <a:t>休息天數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608576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先發投手上次出賽距今天數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83296" y="3310128"/>
            <a:ext cx="3566160" cy="21031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3296" y="3310128"/>
            <a:ext cx="64008" cy="2103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7888" y="347472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A855F7"/>
                </a:solidFill>
                <a:latin typeface="Arial"/>
              </a:rPr>
              <a:t>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E8F0"/>
                </a:solidFill>
                <a:latin typeface="Arial"/>
              </a:rPr>
              <a:t>傷兵影響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4608576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主力球員 IL 狀態對陣容的衝擊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MLB 模型權重分佈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2560320" cy="411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5953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rial"/>
              </a:rPr>
              <a:t>六因子加權 — 先發投手是最大決定因素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828800" y="1371600"/>
          <a:ext cx="5029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498079" y="1773936"/>
            <a:ext cx="164592" cy="1645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645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Arial"/>
              </a:rPr>
              <a:t>Elo 評分  35%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2432304"/>
            <a:ext cx="164592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3042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Arial"/>
              </a:rPr>
              <a:t>先發 ERA  25%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3090672"/>
            <a:ext cx="16459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96265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Arial"/>
              </a:rPr>
              <a:t>得失分差  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3749040"/>
            <a:ext cx="164592" cy="16459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362102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Arial"/>
              </a:rPr>
              <a:t>牛棚品質  10%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4407408"/>
            <a:ext cx="164592" cy="1645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42793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Arial"/>
              </a:rPr>
              <a:t>休息天數  10%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5065776"/>
            <a:ext cx="164592" cy="1645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4937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Arial"/>
              </a:rPr>
              <a:t>傷兵影響  5%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MLB 回測績效（30天）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2377440" cy="411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4875" y="1645920"/>
            <a:ext cx="2560320" cy="31089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4875" y="1645920"/>
            <a:ext cx="256032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875" y="228600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6366F1"/>
                </a:solidFill>
                <a:latin typeface="Arial"/>
              </a:rPr>
              <a:t>64.7%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879195" y="3703320"/>
            <a:ext cx="2011680" cy="27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4875" y="38587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Arial"/>
              </a:rPr>
              <a:t>整體勝率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2083" y="1645920"/>
            <a:ext cx="2560320" cy="31089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2083" y="1645920"/>
            <a:ext cx="256032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2083" y="228600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22C55E"/>
                </a:solidFill>
                <a:latin typeface="Arial"/>
              </a:rPr>
              <a:t>77.7%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86403" y="3703320"/>
            <a:ext cx="2011680" cy="27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2083" y="38587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Arial"/>
              </a:rPr>
              <a:t>強推勝率 &gt;58%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9291" y="1645920"/>
            <a:ext cx="2560320" cy="31089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9291" y="1645920"/>
            <a:ext cx="25603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9291" y="228600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59E0B"/>
                </a:solidFill>
                <a:latin typeface="Arial"/>
              </a:rPr>
              <a:t>+20.4%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3611" y="3703320"/>
            <a:ext cx="2011680" cy="27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9291" y="38587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Arial"/>
              </a:rPr>
              <a:t>ROI (-110)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26499" y="1645920"/>
            <a:ext cx="2560320" cy="31089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26499" y="1645920"/>
            <a:ext cx="256032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26499" y="228600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06B6D4"/>
                </a:solidFill>
                <a:latin typeface="Arial"/>
              </a:rPr>
              <a:t>252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00819" y="3703320"/>
            <a:ext cx="2011680" cy="27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6499" y="38587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Arial"/>
              </a:rPr>
              <a:t>測試場次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63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rial"/>
              </a:rPr>
              <a:t>* 回測期間 2024-01 至 2024-06  |  資料來源：Baseball Reference / FanGraphs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0" y="0"/>
            <a:ext cx="505937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086600" y="54864"/>
            <a:ext cx="41148" cy="68031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100584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76272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E2E8F0"/>
                </a:solidFill>
                <a:latin typeface="Arial"/>
              </a:rPr>
              <a:t>加密貨幣信號系統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4A3B8"/>
                </a:solidFill>
                <a:latin typeface="Arial"/>
              </a:rPr>
              <a:t>BTC / ETH / WTI — Polymarket 數據驅動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3017520"/>
            <a:ext cx="1097280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2E8F0"/>
                </a:solidFill>
                <a:latin typeface="Arial"/>
              </a:rPr>
              <a:t>BTC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72600" y="3017520"/>
            <a:ext cx="1097280" cy="47548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72600" y="3017520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2E8F0"/>
                </a:solidFill>
                <a:latin typeface="Arial"/>
              </a:rPr>
              <a:t>ETH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98480" y="3017520"/>
            <a:ext cx="109728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3017520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2E8F0"/>
                </a:solidFill>
                <a:latin typeface="Arial"/>
              </a:rPr>
              <a:t>WTI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3794760"/>
            <a:ext cx="3474720" cy="502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794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Arial"/>
              </a:rPr>
              <a:t>Polymarket 預測市場整合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0" y="1097280"/>
            <a:ext cx="1828800" cy="18288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0" y="2286000"/>
            <a:ext cx="1371600" cy="13716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35440" y="4846320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0"/>
                </a:solidFill>
                <a:latin typeface="Arial"/>
              </a:rPr>
              <a:t>三大預測市場信號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Arial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04672"/>
            <a:ext cx="32004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4895" y="1252728"/>
            <a:ext cx="3291840" cy="438912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0887" y="1188720"/>
            <a:ext cx="3291840" cy="4389120"/>
          </a:xfrm>
          <a:prstGeom prst="rect">
            <a:avLst/>
          </a:prstGeom>
          <a:solidFill>
            <a:srgbClr val="334155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0887" y="1188720"/>
            <a:ext cx="329184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3767" y="135331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366F1"/>
                </a:solidFill>
                <a:latin typeface="Arial"/>
              </a:rPr>
              <a:t>₿ BTC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207" y="2057400"/>
            <a:ext cx="2743200" cy="137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767" y="219456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</a:pPr>
            <a:r>
              <a:rPr sz="1700" b="0">
                <a:solidFill>
                  <a:srgbClr val="E2E8F0"/>
                </a:solidFill>
                <a:latin typeface="Arial"/>
              </a:rPr>
              <a:t>Polymarket 下注機率</a:t>
            </a:r>
          </a:p>
          <a:p>
            <a:pPr algn="ctr">
              <a:lnSpc>
                <a:spcPts val="2200"/>
              </a:lnSpc>
            </a:pPr>
            <a:r>
              <a:rPr sz="1700" b="0">
                <a:solidFill>
                  <a:srgbClr val="E2E8F0"/>
                </a:solidFill>
                <a:latin typeface="Arial"/>
              </a:rPr>
              <a:t>方向偏差 + 區間分佈</a:t>
            </a:r>
          </a:p>
          <a:p>
            <a:pPr algn="ctr">
              <a:lnSpc>
                <a:spcPts val="2200"/>
              </a:lnSpc>
            </a:pPr>
            <a:r>
              <a:rPr sz="1700" b="0">
                <a:solidFill>
                  <a:srgbClr val="E2E8F0"/>
                </a:solidFill>
                <a:latin typeface="Arial"/>
              </a:rPr>
              <a:t>30 秒自動刷新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13935" y="1252728"/>
            <a:ext cx="3291840" cy="438912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9927" y="1188720"/>
            <a:ext cx="3291840" cy="4389120"/>
          </a:xfrm>
          <a:prstGeom prst="rect">
            <a:avLst/>
          </a:prstGeom>
          <a:solidFill>
            <a:srgbClr val="334155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49927" y="1188720"/>
            <a:ext cx="329184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2807" y="135331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C55E"/>
                </a:solidFill>
                <a:latin typeface="Arial"/>
              </a:rPr>
              <a:t>Ξ ETH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24247" y="2057400"/>
            <a:ext cx="2743200" cy="137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2807" y="219456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</a:pPr>
            <a:r>
              <a:rPr sz="1700" b="0">
                <a:solidFill>
                  <a:srgbClr val="E2E8F0"/>
                </a:solidFill>
                <a:latin typeface="Arial"/>
              </a:rPr>
              <a:t>reach/dip 格式解析</a:t>
            </a:r>
          </a:p>
          <a:p>
            <a:pPr algn="ctr">
              <a:lnSpc>
                <a:spcPts val="2200"/>
              </a:lnSpc>
            </a:pPr>
            <a:r>
              <a:rPr sz="1700" b="0">
                <a:solidFill>
                  <a:srgbClr val="E2E8F0"/>
                </a:solidFill>
                <a:latin typeface="Arial"/>
              </a:rPr>
              <a:t>Events API 搜尋</a:t>
            </a:r>
          </a:p>
          <a:p>
            <a:pPr algn="ctr">
              <a:lnSpc>
                <a:spcPts val="2200"/>
              </a:lnSpc>
            </a:pPr>
            <a:r>
              <a:rPr sz="1700" b="0">
                <a:solidFill>
                  <a:srgbClr val="E2E8F0"/>
                </a:solidFill>
                <a:latin typeface="Arial"/>
              </a:rPr>
              <a:t>自適應權重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62975" y="1252728"/>
            <a:ext cx="3291840" cy="438912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8967" y="1188720"/>
            <a:ext cx="3291840" cy="4389120"/>
          </a:xfrm>
          <a:prstGeom prst="rect">
            <a:avLst/>
          </a:prstGeom>
          <a:solidFill>
            <a:srgbClr val="33415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98967" y="1188720"/>
            <a:ext cx="3291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1847" y="135331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  <a:latin typeface="Arial"/>
              </a:rPr>
              <a:t>🛢 WTI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73287" y="2057400"/>
            <a:ext cx="2743200" cy="137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1847" y="219456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</a:pPr>
            <a:r>
              <a:rPr sz="1700" b="0">
                <a:solidFill>
                  <a:srgbClr val="E2E8F0"/>
                </a:solidFill>
                <a:latin typeface="Arial"/>
              </a:rPr>
              <a:t>原油 hit HIGH/LOW</a:t>
            </a:r>
          </a:p>
          <a:p>
            <a:pPr algn="ctr">
              <a:lnSpc>
                <a:spcPts val="2200"/>
              </a:lnSpc>
            </a:pPr>
            <a:r>
              <a:rPr sz="1700" b="0">
                <a:solidFill>
                  <a:srgbClr val="E2E8F0"/>
                </a:solidFill>
                <a:latin typeface="Arial"/>
              </a:rPr>
              <a:t>機率曲線估價</a:t>
            </a:r>
          </a:p>
          <a:p>
            <a:pPr algn="ctr">
              <a:lnSpc>
                <a:spcPts val="2200"/>
              </a:lnSpc>
            </a:pPr>
            <a:r>
              <a:rPr sz="1700" b="0">
                <a:solidFill>
                  <a:srgbClr val="E2E8F0"/>
                </a:solidFill>
                <a:latin typeface="Arial"/>
              </a:rPr>
              <a:t>上行下行圖表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0"/>
                </a:solidFill>
                <a:latin typeface="Arial"/>
              </a:rPr>
              <a:t>傳統分析 vs Polymarket 信號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Arial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04672"/>
            <a:ext cx="41148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5120640" cy="5029200"/>
          </a:xfrm>
          <a:prstGeom prst="rect">
            <a:avLst/>
          </a:prstGeom>
          <a:solidFill>
            <a:srgbClr val="33415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512064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Arial"/>
              </a:rPr>
              <a:t>傳統技術分析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20"/>
            <a:ext cx="493776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176272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029968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Arial"/>
              </a:rPr>
              <a:t>MA / RSI / MACD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80360"/>
            <a:ext cx="493776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3182112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035808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Arial"/>
              </a:rPr>
              <a:t>歷史數據回看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86200"/>
            <a:ext cx="493776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4187952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041648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Arial"/>
              </a:rPr>
              <a:t>延遲反應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892040"/>
            <a:ext cx="493776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5193792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047488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Arial"/>
              </a:rPr>
              <a:t>主觀判斷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097280"/>
            <a:ext cx="5120640" cy="5029200"/>
          </a:xfrm>
          <a:prstGeom prst="rect">
            <a:avLst/>
          </a:prstGeom>
          <a:solidFill>
            <a:srgbClr val="334155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1097280"/>
            <a:ext cx="5120640" cy="594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Arial"/>
              </a:rPr>
              <a:t>Polymarket 即時信號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1874520"/>
            <a:ext cx="493776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20840" y="2176272"/>
            <a:ext cx="109728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029968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Arial"/>
              </a:rPr>
              <a:t>真金白銀下注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880360"/>
            <a:ext cx="493776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20840" y="3182112"/>
            <a:ext cx="109728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3035808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Arial"/>
              </a:rPr>
              <a:t>群眾智慧共識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886200"/>
            <a:ext cx="493776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20840" y="4187952"/>
            <a:ext cx="109728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4041648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Arial"/>
              </a:rPr>
              <a:t>即時反應新聞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892040"/>
            <a:ext cx="493776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20840" y="5193792"/>
            <a:ext cx="109728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5047488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Arial"/>
              </a:rPr>
              <a:t>機率量化輸出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06440" y="3017520"/>
            <a:ext cx="640080" cy="640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06440" y="30632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2E8F0"/>
                </a:solidFill>
                <a:latin typeface="Arial"/>
              </a:rPr>
              <a:t>VS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" name="poly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pathLst>
              <a:path w="12191695" h="6858000">
                <a:moveTo>
                  <a:pt x="0" y="3200400"/>
                </a:moveTo>
                <a:lnTo>
                  <a:pt x="12191695" y="5029200"/>
                </a:lnTo>
                <a:lnTo>
                  <a:pt x="1219169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</p:sp>
      <p:sp>
        <p:nvSpPr>
          <p:cNvPr id="100" name="Rectangle 9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40080" y="1371600"/>
            <a:ext cx="1280160" cy="1280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40080" y="146304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9456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2E8F0"/>
                </a:solidFill>
                <a:latin typeface="Arial"/>
              </a:rPr>
              <a:t>自動交易機器人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94560" y="2606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94A3B8"/>
                </a:solidFill>
                <a:latin typeface="Arial"/>
              </a:rPr>
              <a:t>Pionex 網格 + 信號管理 + 投資組合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194560" y="3383280"/>
            <a:ext cx="228600" cy="228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606040" y="3383280"/>
            <a:ext cx="228600" cy="228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017520" y="3383280"/>
            <a:ext cx="2286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0"/>
                </a:solidFill>
                <a:latin typeface="Arial"/>
              </a:rPr>
              <a:t>交易系統四大元件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Arial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04672"/>
            <a:ext cx="36576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5983" y="1197864"/>
            <a:ext cx="2651760" cy="457200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1119" y="1143000"/>
            <a:ext cx="2651760" cy="4572000"/>
          </a:xfrm>
          <a:prstGeom prst="rect">
            <a:avLst/>
          </a:prstGeom>
          <a:solidFill>
            <a:srgbClr val="334155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1119" y="1143000"/>
            <a:ext cx="265176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5519" y="1325880"/>
            <a:ext cx="822960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5519" y="1344168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F172A"/>
                </a:solidFill>
                <a:latin typeface="Arial"/>
              </a:rPr>
              <a:t>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559" y="225856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366F1"/>
                </a:solidFill>
                <a:latin typeface="Arial"/>
              </a:rPr>
              <a:t>Signal Manager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9719" y="2862072"/>
            <a:ext cx="2194560" cy="137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0847" y="3017519"/>
            <a:ext cx="2432304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0847" y="3017519"/>
            <a:ext cx="36576" cy="65836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151" y="3136391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Arial"/>
              </a:rPr>
              <a:t>TripleCCI 信號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0847" y="3822191"/>
            <a:ext cx="2432304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0847" y="3822191"/>
            <a:ext cx="36576" cy="65836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151" y="3941063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Arial"/>
              </a:rPr>
              <a:t>自動翻多空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0847" y="4626863"/>
            <a:ext cx="2432304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0847" y="4626863"/>
            <a:ext cx="36576" cy="65836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7151" y="4745735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Arial"/>
              </a:rPr>
              <a:t>冷卻防循環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25215" y="1197864"/>
            <a:ext cx="2651760" cy="457200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70351" y="1143000"/>
            <a:ext cx="2651760" cy="4572000"/>
          </a:xfrm>
          <a:prstGeom prst="rect">
            <a:avLst/>
          </a:prstGeom>
          <a:solidFill>
            <a:srgbClr val="334155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70351" y="1143000"/>
            <a:ext cx="265176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84751" y="1325880"/>
            <a:ext cx="82296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84751" y="1344168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F172A"/>
                </a:solidFill>
                <a:latin typeface="Arial"/>
              </a:rPr>
              <a:t>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1791" y="225856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  <a:latin typeface="Arial"/>
              </a:rPr>
              <a:t>Grid Bot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98951" y="2862072"/>
            <a:ext cx="2194560" cy="137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80079" y="3017519"/>
            <a:ext cx="2432304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80079" y="3017519"/>
            <a:ext cx="36576" cy="6583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6383" y="3136391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Arial"/>
              </a:rPr>
              <a:t>Pionex 期貨網格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0079" y="3822191"/>
            <a:ext cx="2432304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80079" y="3822191"/>
            <a:ext cx="36576" cy="6583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6383" y="3941063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Arial"/>
              </a:rPr>
              <a:t>自動建立/取消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0079" y="4626863"/>
            <a:ext cx="2432304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80079" y="4626863"/>
            <a:ext cx="36576" cy="6583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6383" y="4745735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Arial"/>
              </a:rPr>
              <a:t>5x 槓桿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24447" y="1197864"/>
            <a:ext cx="2651760" cy="457200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9583" y="1143000"/>
            <a:ext cx="2651760" cy="4572000"/>
          </a:xfrm>
          <a:prstGeom prst="rect">
            <a:avLst/>
          </a:prstGeom>
          <a:solidFill>
            <a:srgbClr val="33415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9583" y="1143000"/>
            <a:ext cx="26517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83983" y="1325880"/>
            <a:ext cx="82296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83983" y="1344168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F172A"/>
                </a:solidFill>
                <a:latin typeface="Arial"/>
              </a:rPr>
              <a:t>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61023" y="225856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  <a:latin typeface="Arial"/>
              </a:rPr>
              <a:t>Portfolio Agent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8183" y="2862072"/>
            <a:ext cx="2194560" cy="137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79311" y="3017519"/>
            <a:ext cx="2432304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79311" y="3017519"/>
            <a:ext cx="36576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25615" y="3136391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Arial"/>
              </a:rPr>
              <a:t>資金自動分配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79311" y="3822191"/>
            <a:ext cx="2432304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79311" y="3822191"/>
            <a:ext cx="36576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25615" y="3941063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Arial"/>
              </a:rPr>
              <a:t>風控上限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79311" y="4626863"/>
            <a:ext cx="2432304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79311" y="4626863"/>
            <a:ext cx="36576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25615" y="4745735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Arial"/>
              </a:rPr>
              <a:t>回撤保護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23679" y="1197864"/>
            <a:ext cx="2651760" cy="457200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268815" y="1143000"/>
            <a:ext cx="2651760" cy="4572000"/>
          </a:xfrm>
          <a:prstGeom prst="rect">
            <a:avLst/>
          </a:prstGeom>
          <a:solidFill>
            <a:srgbClr val="334155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268815" y="1143000"/>
            <a:ext cx="2651760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183215" y="1325880"/>
            <a:ext cx="822960" cy="8229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83215" y="1344168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F172A"/>
                </a:solidFill>
                <a:latin typeface="Arial"/>
              </a:rPr>
              <a:t>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60255" y="225856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855F7"/>
                </a:solidFill>
                <a:latin typeface="Arial"/>
              </a:rPr>
              <a:t>Evolution Agent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97415" y="2862072"/>
            <a:ext cx="2194560" cy="1371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378543" y="3017519"/>
            <a:ext cx="2432304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378543" y="3017519"/>
            <a:ext cx="36576" cy="6583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24847" y="3136391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Arial"/>
              </a:rPr>
              <a:t>定期回測評估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78543" y="3822191"/>
            <a:ext cx="2432304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378543" y="3822191"/>
            <a:ext cx="36576" cy="6583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24847" y="3941063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Arial"/>
              </a:rPr>
              <a:t>淘汰劣勢 Bot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378543" y="4626863"/>
            <a:ext cx="2432304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378543" y="4626863"/>
            <a:ext cx="36576" cy="6583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24847" y="4745735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Arial"/>
              </a:rPr>
              <a:t>策略進化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" name="poly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pathLst>
              <a:path w="12191695" h="6858000">
                <a:moveTo>
                  <a:pt x="5029200" y="0"/>
                </a:moveTo>
                <a:lnTo>
                  <a:pt x="12191695" y="0"/>
                </a:lnTo>
                <a:lnTo>
                  <a:pt x="12191695" y="4114800"/>
                </a:lnTo>
                <a:lnTo>
                  <a:pt x="7772400" y="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</p:sp>
      <p:sp>
        <p:nvSpPr>
          <p:cNvPr id="99" name="poly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pathLst>
              <a:path w="12191695" h="6858000">
                <a:moveTo>
                  <a:pt x="7132320" y="0"/>
                </a:moveTo>
                <a:lnTo>
                  <a:pt x="12191695" y="0"/>
                </a:lnTo>
                <a:lnTo>
                  <a:pt x="12191695" y="457200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</p:sp>
      <p:sp>
        <p:nvSpPr>
          <p:cNvPr id="99" name="poly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pathLst>
              <a:path w="12191695" h="6858000">
                <a:moveTo>
                  <a:pt x="5943600" y="0"/>
                </a:moveTo>
                <a:lnTo>
                  <a:pt x="7132320" y="0"/>
                </a:lnTo>
                <a:lnTo>
                  <a:pt x="12191695" y="457200"/>
                </a:lnTo>
                <a:lnTo>
                  <a:pt x="12191695" y="1005840"/>
                </a:lnTo>
                <a:close/>
              </a:path>
            </a:pathLst>
          </a:custGeom>
          <a:solidFill>
            <a:srgbClr val="312e81"/>
          </a:solidFill>
          <a:ln>
            <a:noFill/>
          </a:ln>
        </p:spPr>
      </p:sp>
      <p:sp>
        <p:nvSpPr>
          <p:cNvPr id="100" name="Rectangle 99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57200" y="1097280"/>
            <a:ext cx="1645920" cy="1645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57200" y="1188720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E2E8F0"/>
                </a:solidFill>
                <a:latin typeface="Arial"/>
              </a:rPr>
              <a:t>🛡️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37744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E2E8F0"/>
                </a:solidFill>
                <a:latin typeface="Arial"/>
              </a:rPr>
              <a:t>安全第一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377440" y="23317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  <a:latin typeface="Arial"/>
              </a:rPr>
              <a:t>filelock + auth + cancel cooldown + 風控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" y="3154680"/>
            <a:ext cx="77724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57200" y="3383280"/>
            <a:ext cx="8686800" cy="7772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57200" y="3383280"/>
            <a:ext cx="54864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94360" y="34747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6366F1"/>
                </a:solidFill>
                <a:latin typeface="Arial"/>
              </a:rPr>
              <a:t>🔒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325880" y="3520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2E8F0"/>
                </a:solidFill>
                <a:latin typeface="Arial"/>
              </a:rPr>
              <a:t>filelock 防止並發寫入衝突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" y="4389120"/>
            <a:ext cx="8686800" cy="7772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57200" y="4389120"/>
            <a:ext cx="54864" cy="7772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94360" y="44805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C55E"/>
                </a:solidFill>
                <a:latin typeface="Arial"/>
              </a:rPr>
              <a:t>🔑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325880" y="4526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2E8F0"/>
                </a:solidFill>
                <a:latin typeface="Arial"/>
              </a:rPr>
              <a:t>Dashboard 分層認證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57200" y="5394960"/>
            <a:ext cx="8686800" cy="7772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57200" y="5394960"/>
            <a:ext cx="54864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94360" y="54864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9E0B"/>
                </a:solidFill>
                <a:latin typeface="Arial"/>
              </a:rPr>
              <a:t>⏱️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325880" y="5532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2E8F0"/>
                </a:solidFill>
                <a:latin typeface="Arial"/>
              </a:rPr>
              <a:t>Bot 取消冷卻機制防無窮循環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2377440"/>
            <a:ext cx="128016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9572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2E8F0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1488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2E8F0"/>
                </a:solidFill>
                <a:latin typeface="Arial"/>
              </a:rPr>
              <a:t>安裝與部署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3246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4A3B8"/>
                </a:solidFill>
                <a:latin typeface="Arial"/>
              </a:rPr>
              <a:t>三步驟啟動 — 解壓即用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3977639"/>
            <a:ext cx="73152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0"/>
                </a:solidFill>
                <a:latin typeface="Arial"/>
              </a:rPr>
              <a:t>三步安裝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2011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4A3B8"/>
                </a:solidFill>
                <a:latin typeface="Arial"/>
              </a:rP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3566160" cy="2560320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56616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371600"/>
            <a:ext cx="32369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  <a:latin typeface="Arial"/>
              </a:rPr>
              <a:t>Step 1: 安裝依賴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737360"/>
            <a:ext cx="3236976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C55E"/>
                </a:solidFill>
                <a:latin typeface="Courier New"/>
              </a:rPr>
              <a:t>pip install flask httpx python-dotenv</a:t>
            </a:r>
          </a:p>
          <a:p>
            <a:r>
              <a:rPr sz="1300">
                <a:solidFill>
                  <a:srgbClr val="22C55E"/>
                </a:solidFill>
                <a:latin typeface="Courier New"/>
              </a:rPr>
              <a:t>     toml numpy xgboost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566160" cy="2560320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56616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371600"/>
            <a:ext cx="32369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  <a:latin typeface="Arial"/>
              </a:rPr>
              <a:t>Step 2: 啟動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1737360"/>
            <a:ext cx="3236976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C55E"/>
                </a:solidFill>
                <a:latin typeface="Courier New"/>
              </a:rPr>
              <a:t>cd pionex-bot</a:t>
            </a:r>
          </a:p>
          <a:p>
            <a:r>
              <a:rPr sz="1300">
                <a:solidFill>
                  <a:srgbClr val="22C55E"/>
                </a:solidFill>
                <a:latin typeface="Courier New"/>
              </a:rPr>
              <a:t>python dashboard.py --public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80160"/>
            <a:ext cx="3566160" cy="2560320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80160"/>
            <a:ext cx="356616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2" y="1371600"/>
            <a:ext cx="32369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  <a:latin typeface="Arial"/>
              </a:rPr>
              <a:t>Step 3: 開啟瀏覽器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1737360"/>
            <a:ext cx="3236976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C55E"/>
                </a:solidFill>
                <a:latin typeface="Courier New"/>
              </a:rPr>
              <a:t>http://localhost:5000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0690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Arial"/>
              </a:rPr>
              <a:t>完成後即可在瀏覽器看到即時 P&amp;L 與七大預測頁面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0"/>
                </a:solidFill>
                <a:latin typeface="Arial"/>
              </a:rPr>
              <a:t>Dashboard 七大頁面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2011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4A3B8"/>
                </a:solidFill>
                <a:latin typeface="Arial"/>
              </a:rP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155680" cy="58521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1463040" cy="402335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6187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ourier New"/>
              </a:rPr>
              <a:t>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271016"/>
            <a:ext cx="923544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Arial"/>
              </a:rPr>
              <a:t>Trading 主頁（P&amp;L、Bot 狀態）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01368"/>
            <a:ext cx="11155680" cy="58521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892807"/>
            <a:ext cx="1463040" cy="402335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ourier New"/>
              </a:rPr>
              <a:t>/nba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929384"/>
            <a:ext cx="923544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Arial"/>
              </a:rPr>
              <a:t>NBA 預測（Elo + 傷兵 + 運彩）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459736"/>
            <a:ext cx="11155680" cy="58521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2551176"/>
            <a:ext cx="1463040" cy="402335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7860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ourier New"/>
              </a:rPr>
              <a:t>/mlb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587752"/>
            <a:ext cx="923544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Arial"/>
              </a:rPr>
              <a:t>MLB 預測（ERA + 牛棚 + 星等）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18104"/>
            <a:ext cx="11155680" cy="58521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" y="3209544"/>
            <a:ext cx="1463040" cy="402335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23697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ourier New"/>
              </a:rPr>
              <a:t>/btc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246120"/>
            <a:ext cx="923544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Arial"/>
              </a:rPr>
              <a:t>BTC 信號（Polymarket 即時）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76472"/>
            <a:ext cx="11155680" cy="58521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360" y="3867911"/>
            <a:ext cx="1463040" cy="402335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89534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ourier New"/>
              </a:rPr>
              <a:t>/eth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904487"/>
            <a:ext cx="923544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Arial"/>
              </a:rPr>
              <a:t>ETH 信號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434840"/>
            <a:ext cx="11155680" cy="58521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4526279"/>
            <a:ext cx="1463040" cy="402335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55371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ourier New"/>
              </a:rPr>
              <a:t>/wti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562855"/>
            <a:ext cx="923544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Arial"/>
              </a:rPr>
              <a:t>WTI 原油信號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093208"/>
            <a:ext cx="11155680" cy="58521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94360" y="5184648"/>
            <a:ext cx="1463040" cy="402335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21208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ourier New"/>
              </a:rPr>
              <a:t>/polymarket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5221224"/>
            <a:ext cx="923544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Arial"/>
              </a:rPr>
              <a:t>預測市場瀏覽器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6366F1"/>
                </a:solidFill>
                <a:latin typeface="Arial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4747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6366F1"/>
                </a:solidFill>
                <a:latin typeface="Arial"/>
              </a:rPr>
              <a:t>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1">
                <a:solidFill>
                  <a:srgbClr val="6366F1"/>
                </a:solidFill>
                <a:latin typeface="Arial"/>
              </a:rPr>
              <a:t>Evidence over assumptions.
Code over documentation.
Efficiency over verbosity.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800600"/>
            <a:ext cx="3962095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983480"/>
            <a:ext cx="85340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94A3B8"/>
                </a:solidFill>
                <a:latin typeface="Arial"/>
              </a:rPr>
              <a:t>— AUTOBOTS 設計哲學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2E8F0"/>
                </a:solidFill>
                <a:latin typeface="Arial"/>
              </a:rPr>
              <a:t>開始動手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6366F1"/>
                </a:solidFill>
                <a:latin typeface="Arial"/>
              </a:rPr>
              <a:t>解壓  →  安裝  →  啟動  →  預測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194560"/>
            <a:ext cx="105156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423160"/>
            <a:ext cx="502920" cy="5029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5059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Arial"/>
              </a:rPr>
              <a:t>下載 AUTOBOTS_Teaching_Pack.zip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154680"/>
            <a:ext cx="502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821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Arial"/>
              </a:rPr>
              <a:t>將 AI_README.md 貼給 AI 助手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86200"/>
            <a:ext cx="502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136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Arial"/>
              </a:rPr>
              <a:t>AI 自動安裝並啟動 Dashboard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0" y="6272784"/>
            <a:ext cx="1219169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  <a:latin typeface="Arial"/>
              </a:rPr>
              <a:t>github.com/dawson0919/AUTOBOTS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