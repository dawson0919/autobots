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041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457200" y="-457200"/>
            <a:ext cx="13258800" cy="1371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457200" y="6720840"/>
            <a:ext cx="13258800" cy="137160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315200" y="457200"/>
            <a:ext cx="5486400" cy="6400800"/>
          </a:xfrm>
          <a:prstGeom prst="parallelogram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D4AA"/>
                </a:solidFill>
                <a:latin typeface="Microsoft JhengHei"/>
              </a:defRPr>
            </a:pPr>
            <a:r>
              <a:t>三刀流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JhengHei"/>
              </a:defRPr>
            </a:pPr>
            <a:r>
              <a:t>參數最佳化報告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5A5"/>
                </a:solidFill>
                <a:latin typeface="Calibri"/>
              </a:defRPr>
            </a:pPr>
            <a:r>
              <a:t>Parameter Optimization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800"/>
                </a:solidFill>
                <a:latin typeface="Microsoft JhengHei"/>
              </a:defRPr>
            </a:pPr>
            <a:r>
              <a:t>11 商品 x 1920 參數組合 x 4H 時間框架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5A5"/>
                </a:solidFill>
                <a:latin typeface="Microsoft JhengHei"/>
              </a:defRPr>
            </a:pPr>
            <a:r>
              <a:t>Pionex USDT 永續合約  |  2026-03-29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200400" cy="109728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  <a:latin typeface="Calibri"/>
              </a:defRPr>
            </a:pPr>
            <a:r>
              <a:t>21,120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5A5"/>
                </a:solidFill>
                <a:latin typeface="Calibri"/>
              </a:defRPr>
            </a:pPr>
            <a:r>
              <a:t>Total Combinations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017520"/>
            <a:ext cx="3200400" cy="109728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B80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5A5"/>
                </a:solidFill>
                <a:latin typeface="Calibri"/>
              </a:defRPr>
            </a:pPr>
            <a:r>
              <a:t>Symbols Tested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389120"/>
            <a:ext cx="3200400" cy="109728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4480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76"/>
                </a:solidFill>
                <a:latin typeface="Calibri"/>
              </a:defRPr>
            </a:pPr>
            <a:r>
              <a:t>+2379%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5A5"/>
                </a:solidFill>
                <a:latin typeface="Calibri"/>
              </a:defRPr>
            </a:pPr>
            <a:r>
              <a:t>Best Return (DOGE)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最佳策略排行榜 — 依報酬率排名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5A5"/>
                </a:solidFill>
                <a:latin typeface="Calibri"/>
              </a:defRPr>
            </a:pPr>
            <a:r>
              <a:rPr dirty="0"/>
              <a:t>Best Strategy Ranking by Return  |  4H Timeframe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11430000" cy="41148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Calibri"/>
              </a:defRPr>
            </a:pPr>
            <a:r>
              <a:t>Symbol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Calibri"/>
              </a:defRPr>
            </a:pPr>
            <a:r>
              <a:t>Return%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63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Calibri"/>
              </a:defRPr>
            </a:pPr>
            <a:r>
              <a:t>MaxDD%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63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Calibri"/>
              </a:defRPr>
            </a:pPr>
            <a:r>
              <a:t>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Calibri"/>
              </a:defRPr>
            </a:pPr>
            <a:r>
              <a:t>LB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463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Calibri"/>
              </a:defRPr>
            </a:pPr>
            <a:r>
              <a:rPr dirty="0"/>
              <a:t>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Calibri"/>
              </a:defRPr>
            </a:pPr>
            <a:r>
              <a:rPr dirty="0"/>
              <a:t>ZF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463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Calibri"/>
              </a:defRPr>
            </a:pPr>
            <a:r>
              <a:rPr dirty="0"/>
              <a:t>DIST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14630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Calibri"/>
              </a:defRPr>
            </a:pPr>
            <a:r>
              <a:rPr dirty="0" err="1"/>
              <a:t>Bnc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1064240" y="1463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90195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19202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19202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DOGE (Dogecoin)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19202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rPr dirty="0"/>
              <a:t>+2379.0%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19202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alibri"/>
              </a:defRPr>
            </a:pPr>
            <a:r>
              <a:t>53.7%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920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920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920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920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rPr dirty="0"/>
              <a:t>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19202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onsolas"/>
              </a:defRPr>
            </a:pPr>
            <a:r>
              <a:rPr dirty="0"/>
              <a:t>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1920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onsolas"/>
              </a:defRPr>
            </a:pPr>
            <a:r>
              <a:t>52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31343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3317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C0C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2331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SOL (Solana)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2331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rPr dirty="0"/>
              <a:t>+1130.2%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2331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alibri"/>
              </a:defRPr>
            </a:pPr>
            <a:r>
              <a:t>43.0%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2331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331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250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2331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331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331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rPr dirty="0"/>
              <a:t>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3317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onsolas"/>
              </a:defRPr>
            </a:pPr>
            <a:r>
              <a:rPr dirty="0"/>
              <a:t>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2331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onsolas"/>
              </a:defRPr>
            </a:pPr>
            <a:r>
              <a:t>72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272491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27432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D7F3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27432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ETH (Ethereum)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2743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t>+323.9%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27432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alibri"/>
              </a:defRPr>
            </a:pPr>
            <a:r>
              <a:rPr dirty="0"/>
              <a:t>37.9%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2743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1.78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2743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250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2743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2743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2752831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rPr dirty="0"/>
              <a:t>0.0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2833667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onsolas"/>
              </a:defRPr>
            </a:pPr>
            <a:r>
              <a:t>OFF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2743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onsolas"/>
              </a:defRPr>
            </a:pPr>
            <a:r>
              <a:t>172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313639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3154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31546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BTC (Bitcoin)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77440" y="3154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rPr dirty="0"/>
              <a:t>+195.1%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31546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26.8%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80" y="3154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154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3154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60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3154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0" y="3154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2.5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31546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rPr dirty="0"/>
              <a:t>OFF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3154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59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354787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7200" y="35661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35661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SLVX (Silver)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7440" y="3566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+144.3%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0" y="35661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12.7%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8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20.82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3544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1.5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49840" y="35661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OFF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6424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395935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57200" y="3977639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" y="39776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XAUT (Gold)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77440" y="397763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+74.2%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40480" y="39776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11.4%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12080" y="397763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2.35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397763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3760" y="397763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0" y="397763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35440" y="397763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49840" y="3977639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rPr dirty="0"/>
              <a:t>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64240" y="397763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130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65760" y="437083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57200" y="43891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5840" y="43891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TSLAX (Tesla)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77440" y="43891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+58.0%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40480" y="43891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20.0%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12080" y="4389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7.10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17920" y="4389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23760" y="4389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80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0" y="4389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35440" y="4389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3.0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49840" y="43891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OFF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064240" y="4389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65760" y="478231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8006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5840" y="4800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USOX (Crude Oil)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377440" y="4800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+50.4%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40480" y="4800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23.6%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12080" y="4800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8.46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17920" y="4800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23760" y="4800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80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0" y="4800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235440" y="4800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1.0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49840" y="48006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OFF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064240" y="4800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65760" y="519379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7200" y="52120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5840" y="52120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QQQX (Nasdaq)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77440" y="5212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+2.3%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40480" y="52120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10.1%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212080" y="52120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1.41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52120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23760" y="52120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29600" y="52120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35440" y="52120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2.0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149840" y="52120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064240" y="52120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65760" y="560527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57200" y="5623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05840" y="56235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SPYX (S&amp;P 500)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377440" y="5623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+0.3%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40480" y="56235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8.9%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212080" y="5623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1.09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5623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200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23760" y="5623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50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29600" y="5623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235440" y="5623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1.5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49840" y="5623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064240" y="5623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65760" y="601675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57200" y="60350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05840" y="60350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NVDAX (NVIDIA)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377440" y="60350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444"/>
                </a:solidFill>
                <a:latin typeface="Calibri"/>
              </a:defRPr>
            </a:pPr>
            <a:r>
              <a:t>-4.2%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840480" y="60350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21.9%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212080" y="6035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0.97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17920" y="6035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200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223760" y="6035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229600" y="6035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235440" y="6035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149840" y="60350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064240" y="6035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冠軍商品詳解 — Top 3 Winners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502920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DOGE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Dogecoin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108960" cy="914400"/>
          </a:xfrm>
          <a:prstGeom prst="roundRect">
            <a:avLst/>
          </a:prstGeom>
          <a:solidFill>
            <a:srgbClr val="0D1A0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76"/>
                </a:solidFill>
                <a:latin typeface="Calibri"/>
              </a:defRPr>
            </a:pPr>
            <a:r>
              <a:rPr dirty="0"/>
              <a:t>+2379.0%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Optimized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Best Parameters: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LB=250  GY=80  ZF=30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DIST=3  Bounce=OFF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MaxDD: 53.7%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389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PF: 3.93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Trades: 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663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WR: 48.1%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29200"/>
            <a:ext cx="3108960" cy="91440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vs v6 Baseline: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800"/>
                </a:solidFill>
                <a:latin typeface="Consolas"/>
              </a:defRPr>
            </a:pPr>
            <a:r>
              <a:t>+350.2% -&gt; +2379.0%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alibri"/>
              </a:defRPr>
            </a:pPr>
            <a:r>
              <a:t>(+2029% improvement)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C0C0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9666" y="13487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Solana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2286000"/>
            <a:ext cx="3108960" cy="914400"/>
          </a:xfrm>
          <a:prstGeom prst="roundRect">
            <a:avLst/>
          </a:prstGeom>
          <a:solidFill>
            <a:srgbClr val="0D1A0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2331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76"/>
                </a:solidFill>
                <a:latin typeface="Calibri"/>
              </a:defRPr>
            </a:pPr>
            <a:r>
              <a:t>+1130.2%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Optimized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Best Parameters: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LB=250  GY=80  ZF=10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977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DIST=2  Bounce=OFF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389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MaxDD: 43.0%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389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PF: 2.55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663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Trades: 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663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WR: 44.4%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5029200"/>
            <a:ext cx="3108960" cy="91440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vs v6 Baseline: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800"/>
                </a:solidFill>
                <a:latin typeface="Consolas"/>
              </a:defRPr>
            </a:pPr>
            <a:r>
              <a:t>+212.6% -&gt; +1130.2%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alibri"/>
              </a:defRPr>
            </a:pPr>
            <a:r>
              <a:t>(+918% improvement)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1280160"/>
            <a:ext cx="3474720" cy="502920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D7F32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Ethereum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2286000"/>
            <a:ext cx="3108960" cy="914400"/>
          </a:xfrm>
          <a:prstGeom prst="roundRect">
            <a:avLst/>
          </a:prstGeom>
          <a:solidFill>
            <a:srgbClr val="0D1A0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0" y="2331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76"/>
                </a:solidFill>
                <a:latin typeface="Calibri"/>
              </a:defRPr>
            </a:pPr>
            <a:r>
              <a:t>+323.9%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Optimized Return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Best Parameters: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LB=250  GY=80  ZF=10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977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DIST=0  Bounce=OFF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389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MaxDD: 37.9%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4389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PF: 1.78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663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Trades: 172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4663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WR: 24.4%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5029200"/>
            <a:ext cx="3108960" cy="91440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1248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vs v6 Baseline: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800"/>
                </a:solidFill>
                <a:latin typeface="Consolas"/>
              </a:defRPr>
            </a:pPr>
            <a:r>
              <a:t>+14.7% -&gt; +323.9%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alibri"/>
              </a:defRPr>
            </a:pPr>
            <a:r>
              <a:t>(+309% improvement)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最佳化前後對比 — v6 Baseline vs Optimized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5A5"/>
                </a:solidFill>
                <a:latin typeface="Calibri"/>
              </a:defRPr>
            </a:pPr>
            <a:r>
              <a:t>Default (200/50/20/D2.0/OFF) vs Best Found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11430000" cy="411480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Symbol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v6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71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Best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v6 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Best 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Best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" y="181051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828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DOGE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18288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+350.2%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8288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+2379.0%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8288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+2029%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8288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51.6%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1828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53.7%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828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250/80/30/D3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18288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65760" y="222199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402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22402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+212.6%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2402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+1130.2%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2402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+918%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2402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66.5%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240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43.0%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2402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250/80/10/D2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22402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65760" y="263347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2651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26517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+14.7%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6517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+323.9%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2651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+309%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2651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54.5%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6517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37.9%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26517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250/80/10/D0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26517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65760" y="304495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30632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BTC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30632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+35.0%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30632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+195.1%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30632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+160%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30632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36.7%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30632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26.8%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3063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300/60/10/D2.5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30632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365760" y="345643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3474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SLVX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34747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+67.4%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34747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+144.3%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3474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+77%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3474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21.5%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3474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12.7%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3474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100/30/10/D1.5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34747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365760" y="386791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38862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XAUT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45920" y="38862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+16.4%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38862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+74.2%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0" y="38862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+58%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38862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18.1%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79" y="3886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11.4%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38862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100/30/25/D0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38862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365760" y="427939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42976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TSLAX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45920" y="42976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+39.4%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0" y="42976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+58.0%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54880" y="42976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+19%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26480" y="42976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28.7%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8079" y="4297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20.0%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61120" y="42976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100/80/10/D3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0" y="4297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365760" y="469087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57200" y="4709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USOX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45920" y="47091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0" y="47091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+50.4%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54880" y="47091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47091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8079" y="4709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23.6%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61120" y="4709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100/80/10/D1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47091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365760" y="510235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57200" y="51206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QQQX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45920" y="51206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Calibri"/>
              </a:defRPr>
            </a:pPr>
            <a:r>
              <a:t>-2.8%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0400" y="51206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+2.3%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54880" y="51206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+5%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0" y="51206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16.4%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98079" y="5120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10.1%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61120" y="5120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300/30/10/D2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15600" y="51206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365760" y="551383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57200" y="55321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SPYX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45920" y="55321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00400" y="55321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+0.3%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54880" y="55321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126480" y="55321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98079" y="55321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8.9%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61120" y="55321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200/50/10/D1.5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15600" y="55321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365760" y="592531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57200" y="59436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NVDAX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943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Calibri"/>
              </a:defRPr>
            </a:pPr>
            <a:r>
              <a:t>-48.1%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00400" y="5943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Calibri"/>
              </a:defRPr>
            </a:pPr>
            <a:r>
              <a:t>-4.2%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54880" y="5943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+44%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26480" y="5943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54.6%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98079" y="5943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21.9%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61120" y="5943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onsolas"/>
              </a:defRPr>
            </a:pPr>
            <a:r>
              <a:t>200/30/10/D0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515600" y="59436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風險調整排行 — Risk-Adjusted (Return/MaxDD)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5A5"/>
                </a:solidFill>
                <a:latin typeface="Calibri"/>
              </a:defRPr>
            </a:pPr>
            <a:r>
              <a:t>Higher = Better return per unit of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11430000" cy="4114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Symbol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Return%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371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MaxDD%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Ret/DD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PF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LB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ZF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1371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DIST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81051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18288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18288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1828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t>+2163.3%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1828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alibri"/>
              </a:defRPr>
            </a:pPr>
            <a:r>
              <a:t>44.1%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828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49.10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828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828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828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828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18288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1828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onsolas"/>
              </a:defRPr>
            </a:pPr>
            <a:r>
              <a:t>76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22199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2402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C0C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22402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2240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t>+1127.4%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22402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alibri"/>
              </a:defRPr>
            </a:pPr>
            <a:r>
              <a:t>38.5%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22402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29.29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2402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22402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300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2402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2402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2402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2.0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22402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onsolas"/>
              </a:defRPr>
            </a:pPr>
            <a:r>
              <a:t>69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263347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26517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D7F3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2651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SLVX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26517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rPr dirty="0"/>
              <a:t>+144.3%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0" y="2651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alibri"/>
              </a:defRPr>
            </a:pPr>
            <a:r>
              <a:t>12.7%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11.37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20.82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26517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1.5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5A5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304495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30632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30632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30632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+320.6%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23360" y="30632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35.4%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80" y="3063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alibri"/>
              </a:defRPr>
            </a:pPr>
            <a:r>
              <a:t>9.06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063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1.85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3063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3063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80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0" y="3063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30632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3063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167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345643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7200" y="34747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8720" y="3474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BTC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0320" y="3474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+195.1%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23360" y="3474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26.8%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80" y="3474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alibri"/>
              </a:defRPr>
            </a:pPr>
            <a:r>
              <a:t>7.29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3474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2.06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0" y="3474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3474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60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35440" y="3474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49840" y="34747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2.5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64240" y="3474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59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386791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57200" y="38862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88720" y="38862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XAUT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60320" y="3886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+74.2%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23360" y="38862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11.4%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12080" y="3886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alibri"/>
              </a:defRPr>
            </a:pPr>
            <a:r>
              <a:t>6.51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3886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3760" y="3886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0" y="3886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35440" y="3886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25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49840" y="38862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64240" y="3886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130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65760" y="427939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57200" y="42976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88720" y="42976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TSLAX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560320" y="4297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+58.0%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23360" y="42976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20.0%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12080" y="4297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alibri"/>
              </a:defRPr>
            </a:pPr>
            <a:r>
              <a:t>2.91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17920" y="4297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7.10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23760" y="4297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0" y="4297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80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35440" y="4297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49840" y="42976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064240" y="4297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65760" y="469087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7091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" y="47091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USOX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60320" y="4709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+50.4%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23360" y="4709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23.6%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12080" y="4709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alibri"/>
              </a:defRPr>
            </a:pPr>
            <a:r>
              <a:t>2.14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17920" y="4709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8.46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23760" y="4709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0" y="4709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80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235440" y="4709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49840" y="47091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1.0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064240" y="4709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65760" y="510235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7200" y="51206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88720" y="51206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QQQX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560320" y="5120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+2.3%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23360" y="51206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10.1%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212080" y="51206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alibri"/>
              </a:defRPr>
            </a:pPr>
            <a:r>
              <a:t>0.23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51206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1.41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23760" y="51206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29600" y="51206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35440" y="51206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149840" y="51206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2.0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064240" y="51206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65760" y="5513832"/>
            <a:ext cx="11430000" cy="384048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57200" y="55321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88720" y="55321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SPYX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560320" y="55321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76"/>
                </a:solidFill>
                <a:latin typeface="Calibri"/>
              </a:defRPr>
            </a:pPr>
            <a:r>
              <a:t>+0.3%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023360" y="55321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8.9%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212080" y="5532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alibri"/>
              </a:defRPr>
            </a:pPr>
            <a:r>
              <a:t>0.03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5532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1.09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23760" y="5532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200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29600" y="5532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50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235440" y="5532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49840" y="55321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1.5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064240" y="5532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65760" y="5925312"/>
            <a:ext cx="11430000" cy="384048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57200" y="59436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88720" y="5943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NVDAX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60320" y="5943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444"/>
                </a:solidFill>
                <a:latin typeface="Calibri"/>
              </a:defRPr>
            </a:pPr>
            <a:r>
              <a:t>-4.2%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023360" y="59436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alibri"/>
              </a:defRPr>
            </a:pPr>
            <a:r>
              <a:t>21.9%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212080" y="5943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alibri"/>
              </a:defRPr>
            </a:pPr>
            <a:r>
              <a:t>-0.19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17920" y="5943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0.97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223760" y="5943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200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229600" y="5943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30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235440" y="5943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149840" y="59436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064240" y="5943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  <a:latin typeface="Consolas"/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資產類別分析 — Category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530352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Crypto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BTC/ETH/SOL/DOGE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291840" cy="82296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2402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402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+2379.0%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onsolas"/>
              </a:defRPr>
            </a:pPr>
            <a:r>
              <a:t>LB250/GY80/D3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DD:54%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3291840" cy="82296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1546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1546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+1130.2%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onsolas"/>
              </a:defRPr>
            </a:pPr>
            <a:r>
              <a:t>LB250/GY80/D2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DD:43%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3291840" cy="82296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+323.9%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onsolas"/>
              </a:defRPr>
            </a:pPr>
            <a:r>
              <a:t>LB250/GY80/D0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DD:38%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37760"/>
            <a:ext cx="3291840" cy="82296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983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+195.1%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onsolas"/>
              </a:defRPr>
            </a:pPr>
            <a:r>
              <a:t>LB300/GY60/D2.5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49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DD:27%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1188720"/>
            <a:ext cx="3657600" cy="530352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B800"/>
                </a:solidFill>
                <a:latin typeface="Calibri"/>
              </a:defRPr>
            </a:pPr>
            <a:r>
              <a:t>Commodity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Gold/Silver/Oil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2194560"/>
            <a:ext cx="3291840" cy="82296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22402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SLVX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22402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+144.3%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onsolas"/>
              </a:defRPr>
            </a:pPr>
            <a:r>
              <a:t>LB100/GY30/D1.5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DD:13%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3108960"/>
            <a:ext cx="3291840" cy="82296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0" y="31546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XAUT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1546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+74.2%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onsolas"/>
              </a:defRPr>
            </a:pPr>
            <a:r>
              <a:t>LB100/GY30/D0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DD:11%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60" y="4023360"/>
            <a:ext cx="3291840" cy="82296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0" y="4069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USOX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+50.4%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onsolas"/>
              </a:defRPr>
            </a:pPr>
            <a:r>
              <a:t>LB100/GY80/D1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DD:24%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1188720"/>
            <a:ext cx="3657600" cy="530352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AA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1248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A77FF"/>
                </a:solidFill>
                <a:latin typeface="Calibri"/>
              </a:defRPr>
            </a:pPr>
            <a:r>
              <a:t>Index/Stock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SPY/QQQ/NVDA/TSLA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2194560"/>
            <a:ext cx="3291840" cy="82296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12480" y="22402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TSLAX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22402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+58.0%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onsolas"/>
              </a:defRPr>
            </a:pPr>
            <a:r>
              <a:t>LB100/GY80/D3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DD:20%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21040" y="3108960"/>
            <a:ext cx="3291840" cy="82296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0" y="31546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QQQX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31546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+2.3%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onsolas"/>
              </a:defRPr>
            </a:pPr>
            <a:r>
              <a:t>LB300/GY30/D2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DD:10%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21040" y="4023360"/>
            <a:ext cx="3291840" cy="82296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12480" y="4069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SPYX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+0.3%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onsolas"/>
              </a:defRPr>
            </a:pPr>
            <a:r>
              <a:t>LB200/GY50/D1.5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984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DD:9%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21040" y="4937760"/>
            <a:ext cx="3291840" cy="822960"/>
          </a:xfrm>
          <a:prstGeom prst="round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12480" y="4983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NVDAX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1832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4444"/>
                </a:solidFill>
                <a:latin typeface="Calibri"/>
              </a:defRPr>
            </a:pPr>
            <a:r>
              <a:t>-4.2%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onsolas"/>
              </a:defRPr>
            </a:pPr>
            <a:r>
              <a:t>LB200/GY30/D0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98480" y="5349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DD:22%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參數洞察 — Key Parameter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JhengHei"/>
              </a:defRPr>
            </a:pPr>
            <a:r>
              <a:t>LB (劉備) 慢線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rPr dirty="0"/>
              <a:t>Crypto </a:t>
            </a:r>
            <a:r>
              <a:rPr dirty="0" err="1"/>
              <a:t>偏好</a:t>
            </a:r>
            <a:r>
              <a:rPr dirty="0"/>
              <a:t> 250-300 (</a:t>
            </a:r>
            <a:r>
              <a:rPr dirty="0" err="1"/>
              <a:t>較長趨勢</a:t>
            </a:r>
            <a:r>
              <a:rPr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54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Commodity/Stock 偏好 100 (較短趨勢)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11247120" cy="914400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54864" cy="64008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Microsoft JhengHei"/>
              </a:defRPr>
            </a:pPr>
            <a:r>
              <a:t>GY (關羽) 中線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Crypto 主流 80 (寬過濾)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06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Commodity 偏好 30 (窄過濾)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91839"/>
            <a:ext cx="11247120" cy="914400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428999"/>
            <a:ext cx="54864" cy="6400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337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JhengHei"/>
              </a:defRPr>
            </a:pPr>
            <a:r>
              <a:rPr dirty="0"/>
              <a:t>DIST </a:t>
            </a:r>
            <a:r>
              <a:rPr dirty="0" err="1"/>
              <a:t>距離閾值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114800" y="33375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0-3% 分布均勻, DOGE/TSLAX 最佳 DIST=3%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65759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rPr dirty="0"/>
              <a:t>ETH </a:t>
            </a:r>
            <a:r>
              <a:rPr dirty="0" err="1"/>
              <a:t>最佳</a:t>
            </a:r>
            <a:r>
              <a:rPr dirty="0"/>
              <a:t> DIST=0%, SLVX </a:t>
            </a:r>
            <a:r>
              <a:rPr dirty="0" err="1"/>
              <a:t>最佳</a:t>
            </a:r>
            <a:r>
              <a:rPr dirty="0"/>
              <a:t> DIST=1.5%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43400"/>
            <a:ext cx="11247120" cy="914400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54864" cy="6400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  <a:latin typeface="Microsoft JhengHei"/>
              </a:defRPr>
            </a:pPr>
            <a:r>
              <a:t>BounceL 反彈多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rPr dirty="0" err="1"/>
              <a:t>幾乎所有最佳組合</a:t>
            </a:r>
            <a:r>
              <a:rPr dirty="0"/>
              <a:t> =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7091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rPr dirty="0"/>
              <a:t>僅 XAUT </a:t>
            </a:r>
            <a:r>
              <a:rPr dirty="0" err="1"/>
              <a:t>最佳為</a:t>
            </a:r>
            <a:r>
              <a:rPr dirty="0"/>
              <a:t> ON (</a:t>
            </a:r>
            <a:r>
              <a:rPr dirty="0" err="1"/>
              <a:t>反彈做多有效</a:t>
            </a:r>
            <a:r>
              <a:rPr dirty="0"/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2440" y="5394960"/>
            <a:ext cx="11247120" cy="914400"/>
          </a:xfrm>
          <a:prstGeom prst="roundRect">
            <a:avLst/>
          </a:prstGeom>
          <a:solidFill>
            <a:srgbClr val="14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5532120"/>
            <a:ext cx="54864" cy="640080"/>
          </a:xfrm>
          <a:prstGeom prst="rect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95A5"/>
                </a:solidFill>
                <a:latin typeface="Microsoft JhengHei"/>
              </a:defRPr>
            </a:pPr>
            <a:r>
              <a:t>ZF (張飛) 快線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4406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對結果影響最小, 多數商品 ZF 不敏感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76071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建議固定 ZF=10-20 即可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建議配置 — Recommended Configurations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icrosoft JhengHei"/>
              </a:defRPr>
            </a:pPr>
            <a:r>
              <a:t>積極型 Aggressive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Calibri"/>
              </a:defRPr>
            </a:pPr>
            <a:r>
              <a:t>Focus: Maximum 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DOGE: 250/80/30 DIST=3.0 OFF  (+2379%)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SOL:  250/80/10 DIST=2.0 OFF  (+1130%)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ETH:  250/80/10 DIST=0   OFF  (+324%)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BTC:  300/60/10 DIST=2.5 OFF  (+195%)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Microsoft JhengHei"/>
              </a:defRPr>
            </a:pPr>
            <a:r>
              <a:t>穩健型 Conservative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Calibri"/>
              </a:defRPr>
            </a:pPr>
            <a:r>
              <a:t>Focus: Risk-adjusted returns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SLVX: 100/30/10 DIST=1.5 OFF  (DD:13%)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XAUT: 100/30/25 DIST=0   ON   (DD:11%)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TSLAX:100/80/10 DIST=3.0 OFF  (DD:20%)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BTC:  300/60/10 DIST=2.5 OFF  (DD:27%)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11247120" cy="256032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Microsoft JhengHei"/>
              </a:defRPr>
            </a:pPr>
            <a:r>
              <a:t>注意事項 Caveats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1. 過度最佳化風險: 歷史最佳不代表未來最佳, 應使用 walk-forward 驗證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2. 數據量差異: Crypto 有 1100+ 天, Stock/Commodity 僅 80-346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3. 手續費未計: 本回測零手續費零滑點, 實際交易需考慮成本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4. NVDAX 所有參數組合均虧損, 建議暫不交易此商品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5. SPYX/QQQX 報酬極低 (&lt;3%), 策略對指數效果有限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457200" y="-457200"/>
            <a:ext cx="13258800" cy="1371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457200" y="6720840"/>
            <a:ext cx="13258800" cy="137160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總結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82296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6400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Microsoft JhengHei"/>
              </a:defRPr>
            </a:pPr>
            <a:r>
              <a:t>最佳策略: DOGE 250/80/30 DIST=3.0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onsolas"/>
              </a:defRPr>
            </a:pPr>
            <a:r>
              <a:t>+2378.99% return, 3.93 PF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11247120" cy="82296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Microsoft JhengHei"/>
              </a:defRPr>
            </a:pPr>
            <a:r>
              <a:rPr dirty="0" err="1"/>
              <a:t>最穩健策略</a:t>
            </a:r>
            <a:r>
              <a:rPr dirty="0"/>
              <a:t>: SLVX 100/30/10 DIST=1.5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onsolas"/>
              </a:defRPr>
            </a:pPr>
            <a:r>
              <a:t>+144.33% return, 12.69% DD, 20.82 PF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82296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4864" cy="64008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B800"/>
                </a:solidFill>
                <a:latin typeface="Microsoft JhengHei"/>
              </a:defRPr>
            </a:pPr>
            <a:r>
              <a:t>最大改善: ETH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onsolas"/>
              </a:defRPr>
            </a:pPr>
            <a:r>
              <a:t>v6 +14.7% -&gt; Optimized +323.9% (+2104%)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1247120" cy="82296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54864" cy="6400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444"/>
                </a:solidFill>
                <a:latin typeface="Microsoft JhengHei"/>
              </a:defRPr>
            </a:pPr>
            <a:r>
              <a:t>不適合策略: NVDAX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onsolas"/>
              </a:defRPr>
            </a:pPr>
            <a:r>
              <a:t>所有 1920 參數組合均虧損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94960"/>
            <a:ext cx="11247120" cy="822960"/>
          </a:xfrm>
          <a:prstGeom prst="roundRect">
            <a:avLst/>
          </a:prstGeom>
          <a:solidFill>
            <a:srgbClr val="141C2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5486400"/>
            <a:ext cx="54864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通用發現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onsolas"/>
              </a:defRPr>
            </a:pPr>
            <a:r>
              <a:t>Crypto 用長期均線(250-300), Commodity 用短期(100)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5A5"/>
                </a:solidFill>
                <a:latin typeface="Calibri"/>
              </a:defRPr>
            </a:pPr>
            <a:r>
              <a:t>三刀流 v6 Parameter Optimization  |  11 Symbols  |  21,120 Combinations  |  4H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2487</TotalTime>
  <Words>1325</Words>
  <Application>Microsoft Office PowerPoint</Application>
  <PresentationFormat>寬螢幕</PresentationFormat>
  <Paragraphs>509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DAWSON CHAO</cp:lastModifiedBy>
  <cp:revision>2</cp:revision>
  <dcterms:created xsi:type="dcterms:W3CDTF">2013-01-27T09:14:16Z</dcterms:created>
  <dcterms:modified xsi:type="dcterms:W3CDTF">2026-03-31T08:38:32Z</dcterms:modified>
  <cp:category/>
</cp:coreProperties>
</file>