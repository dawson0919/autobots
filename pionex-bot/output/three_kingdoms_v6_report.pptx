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F4F8"/>
                </a:solidFill>
                <a:latin typeface="Segoe UI"/>
              </a:defRPr>
            </a:pPr>
            <a:r>
              <a:t>均線三刀流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4A3B8"/>
                </a:solidFill>
                <a:latin typeface="Segoe UI"/>
              </a:defRPr>
            </a:pPr>
            <a:r>
              <a:t>Three Kingdoms MA Trading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9E0B"/>
                </a:solidFill>
                <a:latin typeface="Segoe UI"/>
              </a:defRPr>
            </a:pPr>
            <a:r>
              <a:t>SMA(200/50/20) + DIST=2% + Flip-Only | 4H Timeframe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Backtest Report — 2022~2026 | Compound Equity | Zero 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5303520"/>
            <a:ext cx="201168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v6 DIST=2%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8"/>
                </a:solidFill>
                <a:latin typeface="Segoe UI"/>
              </a:defRPr>
            </a:pPr>
            <a:r>
              <a:t>策略核心 — 什麼是三刀流？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Segoe UI"/>
              </a:defRPr>
            </a:pPr>
            <a:r>
              <a:t>劉備 SMA(200)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大方向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743200"/>
            <a:ext cx="146304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614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0E17"/>
                </a:solidFill>
                <a:latin typeface="Segoe UI"/>
              </a:defRPr>
            </a:pPr>
            <a:r>
              <a:t>趨勢守護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價格在劉備線之上 = 牛市</a:t>
            </a:r>
            <a:br/>
            <a:r>
              <a:t>價格在劉備線之下 = 熊市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463040"/>
            <a:ext cx="33832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463040"/>
            <a:ext cx="3383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關羽 SMA(50)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攻擊線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79" y="2743200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27614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0E17"/>
                </a:solidFill>
                <a:latin typeface="Segoe UI"/>
              </a:defRPr>
            </a:pPr>
            <a:r>
              <a:t>信號觸發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29184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價格穿越關羽線 + 距離 ≥2%</a:t>
            </a:r>
            <a:br/>
            <a:r>
              <a:t>才觸發進出場信號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63040"/>
            <a:ext cx="33832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383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張飛 SMA(20)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確認線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2743200"/>
            <a:ext cx="146304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7614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0E17"/>
                </a:solidFill>
                <a:latin typeface="Segoe UI"/>
              </a:defRPr>
            </a:pPr>
            <a:r>
              <a:t>最終確認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29184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MAIN 信號需要價格在張飛線</a:t>
            </a:r>
            <a:br/>
            <a:r>
              <a:t>正確方向才確認進場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6035040"/>
            <a:ext cx="10698480" cy="640080"/>
          </a:xfrm>
          <a:prstGeom prst="round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080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信號類型：MainL（主趨勢做多）| MainS（主趨勢做空）| CorrS（修正做空）| BounceL（反彈做多，已停用）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8"/>
                </a:solidFill>
                <a:latin typeface="Segoe UI"/>
              </a:defRPr>
            </a:pPr>
            <a:r>
              <a:t>v6 關鍵創新 — DIST=2% 距離過濾器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信號狀態機（Flip-Only）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0F4F8"/>
                </a:solidFill>
                <a:latin typeface="Segoe UI"/>
              </a:defRPr>
            </a:pPr>
            <a:r>
              <a:t>每根 K 棒計算 rawSig：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  <a:latin typeface="Segoe UI"/>
              </a:defRPr>
            </a:pPr>
            <a:r>
              <a:t>  牛市 + 價格 &gt; 關羽 + 價格 &gt; 張飛 → MAIN_LONG</a:t>
            </a:r>
          </a:p>
          <a:p>
            <a:pPr>
              <a:spcAft>
                <a:spcPts val="400"/>
              </a:spcAft>
              <a:defRPr sz="1300" b="0">
                <a:solidFill>
                  <a:srgbClr val="EF4444"/>
                </a:solidFill>
                <a:latin typeface="Segoe UI"/>
              </a:defRPr>
            </a:pPr>
            <a:r>
              <a:t>  熊市 + 價格 &lt; 關羽 + 價格 &lt; 張飛 → MAIN_SHORT</a:t>
            </a:r>
          </a:p>
          <a:p>
            <a:pPr>
              <a:spcAft>
                <a:spcPts val="400"/>
              </a:spcAft>
              <a:defRPr sz="1300" b="0">
                <a:solidFill>
                  <a:srgbClr val="A855F7"/>
                </a:solidFill>
                <a:latin typeface="Segoe UI"/>
              </a:defRPr>
            </a:pPr>
            <a:r>
              <a:t>  牛市 + 價格 &lt; 關羽 → CORR_SHORT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  否則 → HOLD（不改變狀態）</a:t>
            </a:r>
          </a:p>
          <a:p>
            <a:pPr>
              <a:spcAft>
                <a:spcPts val="400"/>
              </a:spcAft>
              <a:defRPr sz="800" b="0">
                <a:solidFill>
                  <a:srgbClr val="F0F4F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信號翻轉時才進出場（不重複進場）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sigChanged = rawDir ≠ 0 AND rawDir ≠ prevDir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DIST=2% 為何是關鍵？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問題：價格在關羽線附近反覆穿越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→ 產生大量假突破信號（whipsaw）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→ 頻繁進出場，手續費侵蝕利潤</a:t>
            </a:r>
          </a:p>
          <a:p>
            <a:pPr>
              <a:spcAft>
                <a:spcPts val="400"/>
              </a:spcAft>
              <a:defRPr sz="800" b="0">
                <a:solidFill>
                  <a:srgbClr val="F0F4F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解決：距離門檻 ≥ 2%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價格離關羽線必須超過 2% 才觸發信號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濾掉震盪區的噪音信號</a:t>
            </a:r>
          </a:p>
          <a:p>
            <a:pPr>
              <a:spcAft>
                <a:spcPts val="400"/>
              </a:spcAft>
              <a:defRPr sz="800" b="0">
                <a:solidFill>
                  <a:srgbClr val="F0F4F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BTC 效果：從 -13% 翻正到 +35%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最大的單一改善因子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8"/>
                </a:solidFill>
                <a:latin typeface="Segoe UI"/>
              </a:defRPr>
            </a:pPr>
            <a:r>
              <a:t>4H 回測績效總覽（複利，無槓桿）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45720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商品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234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獲利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最大回撤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獲利因子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234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交易數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1234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勝率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2344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天數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09928"/>
            <a:ext cx="11064240" cy="40233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DOGE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+350.78%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51.56%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Segoe UI"/>
              </a:defRPr>
            </a:pPr>
            <a:r>
              <a:t>1.74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737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103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38.8%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7373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1133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139696"/>
            <a:ext cx="11064240" cy="402336"/>
          </a:xfrm>
          <a:prstGeom prst="round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1671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+212.98%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66.50%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1671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Segoe UI"/>
              </a:defRPr>
            </a:pPr>
            <a:r>
              <a:t>1.54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1671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117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21671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37.6%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1671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1119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569464"/>
            <a:ext cx="11064240" cy="40233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5968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SLVX 白銀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259689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+67.39%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259689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Segoe UI"/>
              </a:defRPr>
            </a:pPr>
            <a:r>
              <a:t>21.51%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25968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9.86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59689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0" y="259689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259689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116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2999232"/>
            <a:ext cx="11064240" cy="402336"/>
          </a:xfrm>
          <a:prstGeom prst="round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026663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TSLAX 特斯拉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3026663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+39.42%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026663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Segoe UI"/>
              </a:defRPr>
            </a:pPr>
            <a:r>
              <a:t>28.73%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302666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2.91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026663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80" y="3026663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40.0%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3026663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234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3429000"/>
            <a:ext cx="11064240" cy="40233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4564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USOX 原油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34564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+38.86%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34564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Segoe UI"/>
              </a:defRPr>
            </a:pPr>
            <a:r>
              <a:t>23.60%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960" y="34564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5.38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34564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80" y="34564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34564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3858768"/>
            <a:ext cx="11064240" cy="402336"/>
          </a:xfrm>
          <a:prstGeom prst="round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BTC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68880" y="3886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+34.96%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31920" y="3886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9E0B"/>
                </a:solidFill>
                <a:latin typeface="Segoe UI"/>
              </a:defRPr>
            </a:pPr>
            <a:r>
              <a:t>36.73%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94960" y="3886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9E0B"/>
                </a:solidFill>
                <a:latin typeface="Segoe UI"/>
              </a:defRPr>
            </a:pPr>
            <a:r>
              <a:t>1.28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3886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95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80" y="3886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33.7%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0" y="3886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1174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4288536"/>
            <a:ext cx="11064240" cy="40233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4315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XAUT 黃金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68880" y="43159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+16.44%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31920" y="43159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Segoe UI"/>
              </a:defRPr>
            </a:pPr>
            <a:r>
              <a:t>18.10%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94960" y="43159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Segoe UI"/>
              </a:defRPr>
            </a:pPr>
            <a:r>
              <a:t>1.62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0" y="43159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5280" y="43159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37.5%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0" y="43159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346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8640" y="4718303"/>
            <a:ext cx="11064240" cy="402336"/>
          </a:xfrm>
          <a:prstGeom prst="round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47457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ETH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68880" y="474573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+14.70%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31920" y="474573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54.54%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94960" y="47457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9E0B"/>
                </a:solidFill>
                <a:latin typeface="Segoe UI"/>
              </a:defRPr>
            </a:pPr>
            <a:r>
              <a:t>1.21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0" y="474573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108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55280" y="474573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34.3%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0" y="474573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1179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8640" y="5148072"/>
            <a:ext cx="11064240" cy="40233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51755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SPYX S&amp;P500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68880" y="51755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+2.63%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31920" y="51755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Segoe UI"/>
              </a:defRPr>
            </a:pPr>
            <a:r>
              <a:t>6.40%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94960" y="51755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Segoe UI"/>
              </a:defRPr>
            </a:pPr>
            <a:r>
              <a:t>1.78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66560" y="517550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55280" y="517550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66.7%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2560" y="517550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234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48640" y="5577839"/>
            <a:ext cx="11064240" cy="402336"/>
          </a:xfrm>
          <a:prstGeom prst="round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560527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QQQX Nasdaq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68880" y="5605271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-2.79%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31920" y="5605271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Segoe UI"/>
              </a:defRPr>
            </a:pPr>
            <a:r>
              <a:t>16.40%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94960" y="560527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0.79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766560" y="560527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55280" y="5605271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0" y="5605271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193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48640" y="6007607"/>
            <a:ext cx="11064240" cy="40233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008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NVDAX NVIDIA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468880" y="6035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-48.10%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31920" y="6035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54.61%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94960" y="6035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  <a:latin typeface="Segoe UI"/>
              </a:defRPr>
            </a:pPr>
            <a:r>
              <a:t>0.16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66560" y="60350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955280" y="6035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22.7%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52560" y="6035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220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回測條件：4H K線 | SMA(200/50/20) | DIST=2% | BounceL=OFF | 複利 100% 權益 | 零手續費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8"/>
                </a:solidFill>
                <a:latin typeface="Segoe UI"/>
              </a:defRPr>
            </a:pPr>
            <a:r>
              <a:t>表現最佳商品 Top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6616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566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E17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DOGE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+350.78%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PF 1.74  |  103 筆 / 1133 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Segoe UI"/>
              </a:defRPr>
            </a:pPr>
            <a:r>
              <a:t>高波動 meme coin</a:t>
            </a:r>
            <a:br/>
            <a:r>
              <a:t>趨勢策略完美適配</a:t>
            </a:r>
            <a:br/>
            <a:r>
              <a:t>Long +255% / Short +27%</a:t>
            </a:r>
            <a:br/>
            <a:r>
              <a:t>雙向都獲利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56616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645920"/>
            <a:ext cx="54864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642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E17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SOL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Segoe UI"/>
              </a:defRPr>
            </a:pPr>
            <a:r>
              <a:t>+212.98%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PF 1.54  |  117 筆 / 1119 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Segoe UI"/>
              </a:defRPr>
            </a:pPr>
            <a:r>
              <a:t>高波動 L1 公鏈</a:t>
            </a:r>
            <a:br/>
            <a:r>
              <a:t>Long +383% 極強</a:t>
            </a:r>
            <a:br/>
            <a:r>
              <a:t>Short -35% 拖累整體</a:t>
            </a:r>
            <a:br/>
            <a:r>
              <a:t>單邊策略可考慮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371600"/>
            <a:ext cx="356616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371600"/>
            <a:ext cx="3566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1645920"/>
            <a:ext cx="54864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6642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E17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Segoe UI"/>
              </a:defRPr>
            </a:pPr>
            <a:r>
              <a:t>SLVX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9E0B"/>
                </a:solidFill>
                <a:latin typeface="Segoe UI"/>
              </a:defRPr>
            </a:pPr>
            <a:r>
              <a:t>+67.39%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PF 9.86  |  6 筆 / 116 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Segoe UI"/>
              </a:defRPr>
            </a:pPr>
            <a:r>
              <a:t>白銀趨勢明確</a:t>
            </a:r>
            <a:br/>
            <a:r>
              <a:t>獲利因子 9.86 最高</a:t>
            </a:r>
            <a:br/>
            <a:r>
              <a:t>數據期間短 需更多驗證</a:t>
            </a:r>
            <a:br/>
            <a:r>
              <a:t>商品類最佳標的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8"/>
                </a:solidFill>
                <a:latin typeface="Segoe UI"/>
              </a:defRPr>
            </a:pPr>
            <a:r>
              <a:t>風險分析 — 回撤與勝率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Segoe UI"/>
              </a:defRPr>
            </a:pPr>
            <a:r>
              <a:t>最大回撤分布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240279"/>
            <a:ext cx="744778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XAUT 黃金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3658" y="2194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18.10%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2715768"/>
            <a:ext cx="885093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7004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SLVX 白銀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3973" y="26700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21.51%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3191256"/>
            <a:ext cx="971092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4553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USOX 原油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9972" y="314553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23.60%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3666744"/>
            <a:ext cx="118218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2102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TSLAX 特斯拉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1062" y="362102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28.73%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4142232"/>
            <a:ext cx="1511366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965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BTC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80246" y="40965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36.73%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4617720"/>
            <a:ext cx="212159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572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DOGE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470" y="4572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51.56%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5093207"/>
            <a:ext cx="2244211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0474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3091" y="50474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54.54%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5568696"/>
            <a:ext cx="2736342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52297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5222" y="55229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66.50%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37160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低勝率 + 高盈虧比 = 獲利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1031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0F4F8"/>
                </a:solidFill>
                <a:latin typeface="Segoe UI"/>
              </a:defRPr>
            </a:pPr>
            <a:r>
              <a:t>策略勝率只有 33~39%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但平均獲利 &gt;&gt; 平均虧損</a:t>
            </a:r>
          </a:p>
          <a:p>
            <a:pPr>
              <a:spcAft>
                <a:spcPts val="400"/>
              </a:spcAft>
              <a:defRPr sz="800" b="0">
                <a:solidFill>
                  <a:srgbClr val="F0F4F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DOGE 為例：</a:t>
            </a:r>
          </a:p>
          <a:p>
            <a:pPr>
              <a:spcAft>
                <a:spcPts val="400"/>
              </a:spcAft>
              <a:defRPr sz="1400" b="0">
                <a:solidFill>
                  <a:srgbClr val="10B981"/>
                </a:solidFill>
                <a:latin typeface="Segoe UI"/>
              </a:defRPr>
            </a:pPr>
            <a:r>
              <a:t>  Avg Win:  +16.13%</a:t>
            </a:r>
          </a:p>
          <a:p>
            <a:pPr>
              <a:spcAft>
                <a:spcPts val="400"/>
              </a:spcAft>
              <a:defRPr sz="1400" b="0">
                <a:solidFill>
                  <a:srgbClr val="EF4444"/>
                </a:solidFill>
                <a:latin typeface="Segoe UI"/>
              </a:defRPr>
            </a:pPr>
            <a:r>
              <a:t>  Avg Loss:  -5.90%</a:t>
            </a:r>
          </a:p>
          <a:p>
            <a:pPr>
              <a:spcAft>
                <a:spcPts val="4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  盈虧比 = 2.73 : 1</a:t>
            </a:r>
          </a:p>
          <a:p>
            <a:pPr>
              <a:spcAft>
                <a:spcPts val="400"/>
              </a:spcAft>
              <a:defRPr sz="800" b="0">
                <a:solidFill>
                  <a:srgbClr val="F0F4F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0F4F8"/>
                </a:solidFill>
                <a:latin typeface="Segoe UI"/>
              </a:defRPr>
            </a:pPr>
            <a:r>
              <a:t>趨勢策略的本質：</a:t>
            </a:r>
          </a:p>
          <a:p>
            <a:pPr>
              <a:spcAft>
                <a:spcPts val="400"/>
              </a:spcAft>
              <a:defRPr sz="1400" b="0">
                <a:solidFill>
                  <a:srgbClr val="10B981"/>
                </a:solidFill>
                <a:latin typeface="Segoe UI"/>
              </a:defRPr>
            </a:pPr>
            <a:r>
              <a:t>小虧多次，大賺少次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讓利潤奔跑，截斷虧損</a:t>
            </a:r>
          </a:p>
          <a:p>
            <a:pPr>
              <a:spcAft>
                <a:spcPts val="400"/>
              </a:spcAft>
              <a:defRPr sz="800" b="0">
                <a:solidFill>
                  <a:srgbClr val="F0F4F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3B82F6"/>
                </a:solidFill>
                <a:latin typeface="Segoe UI"/>
              </a:defRPr>
            </a:pPr>
            <a:r>
              <a:t>Flip-Only 確保不錯過大趨勢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8"/>
                </a:solidFill>
                <a:latin typeface="Segoe UI"/>
              </a:defRPr>
            </a:pPr>
            <a:r>
              <a:t>TradingView 驗證 — Python vs PineScript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TradingView（PineScript）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BTC 4H：+285~356%（6.3 年）</a:t>
            </a:r>
          </a:p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ETH 4H：+356%（6.3 年）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涵蓋 2020-2021 大牛市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勝率 31~33%  |  PF 1.44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Python 回測（Pionex API）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BTC 4H：+35.0%（3.2 年）</a:t>
            </a:r>
          </a:p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ETH 4H：+14.7%（3.2 年）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Pionex 數據僅 3.2 年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勝率 33~34%  |  PF 1.21~1.28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驗證結論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2920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✓  勝率一致（33~34%）— 信號邏輯已完全同步</a:t>
            </a: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✓  獲利因子接近（1.2~1.4）— 狀態機行為一致</a:t>
            </a:r>
          </a:p>
          <a:p>
            <a:pPr>
              <a:spcAft>
                <a:spcPts val="400"/>
              </a:spcAft>
              <a:defRPr sz="1400" b="0">
                <a:solidFill>
                  <a:srgbClr val="F59E0B"/>
                </a:solidFill>
                <a:latin typeface="Segoe UI"/>
              </a:defRPr>
            </a:pPr>
            <a:r>
              <a:t>✓  績效差異來自數據期間不同（3.2 年 vs 6.3 年）</a:t>
            </a:r>
          </a:p>
          <a:p>
            <a:pPr>
              <a:spcAft>
                <a:spcPts val="400"/>
              </a:spcAft>
              <a:defRPr sz="1400" b="0">
                <a:solidFill>
                  <a:srgbClr val="F59E0B"/>
                </a:solidFill>
                <a:latin typeface="Segoe UI"/>
              </a:defRPr>
            </a:pPr>
            <a:r>
              <a:t>✓  Python 回測引擎已重寫為 PineScript 完全鏡像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8"/>
                </a:solidFill>
                <a:latin typeface="Segoe UI"/>
              </a:defRPr>
            </a:pPr>
            <a:r>
              <a:t>關鍵發現與建議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關鍵發現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1. 高波動資產最適合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   DOGE、SOL、SLVX 表現最佳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   趨勢策略需要大波動才能獲利</a:t>
            </a:r>
          </a:p>
          <a:p>
            <a:pPr>
              <a:spcAft>
                <a:spcPts val="400"/>
              </a:spcAft>
              <a:defRPr sz="600" b="0">
                <a:solidFill>
                  <a:srgbClr val="F0F4F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2. DIST=2% 是最大改善因子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   過濾關羽線附近假突破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   BTC 從 -13% 翻正到 +35%</a:t>
            </a:r>
          </a:p>
          <a:p>
            <a:pPr>
              <a:spcAft>
                <a:spcPts val="400"/>
              </a:spcAft>
              <a:defRPr sz="600" b="0">
                <a:solidFill>
                  <a:srgbClr val="F0F4F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3. 做多方明顯優於做空方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   多數商品 Long 獲利 / Short 虧損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   加密貨幣長期偏多的結構性因素</a:t>
            </a:r>
          </a:p>
          <a:p>
            <a:pPr>
              <a:spcAft>
                <a:spcPts val="400"/>
              </a:spcAft>
              <a:defRPr sz="600" b="0">
                <a:solidFill>
                  <a:srgbClr val="F0F4F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4. 低波動指數不適合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   SPYX/QQQX 信號太少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   NVDAX 被震盪摧毀（-48%）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02920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操作建議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推薦交易標的：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  <a:latin typeface="Segoe UI"/>
              </a:defRPr>
            </a:pPr>
            <a:r>
              <a:t>  ★★★ DOGE、SOL — 最佳績效</a:t>
            </a:r>
          </a:p>
          <a:p>
            <a:pPr>
              <a:spcAft>
                <a:spcPts val="400"/>
              </a:spcAft>
              <a:defRPr sz="1300" b="0">
                <a:solidFill>
                  <a:srgbClr val="F59E0B"/>
                </a:solidFill>
                <a:latin typeface="Segoe UI"/>
              </a:defRPr>
            </a:pPr>
            <a:r>
              <a:t>  ★★☆ BTC、SLVX、TSLAX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  ★☆☆ ETH、XAUT、USOX</a:t>
            </a:r>
          </a:p>
          <a:p>
            <a:pPr>
              <a:spcAft>
                <a:spcPts val="400"/>
              </a:spcAft>
              <a:defRPr sz="1300" b="0">
                <a:solidFill>
                  <a:srgbClr val="EF4444"/>
                </a:solidFill>
                <a:latin typeface="Segoe UI"/>
              </a:defRPr>
            </a:pPr>
            <a:r>
              <a:t>  ✗     NVDAX、QQQX — 避開</a:t>
            </a:r>
          </a:p>
          <a:p>
            <a:pPr>
              <a:spcAft>
                <a:spcPts val="400"/>
              </a:spcAft>
              <a:defRPr sz="600" b="0">
                <a:solidFill>
                  <a:srgbClr val="F0F4F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時框選擇：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  4H 優於 1H — 信號更穩定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  減少震盪區假突破</a:t>
            </a:r>
          </a:p>
          <a:p>
            <a:pPr>
              <a:spcAft>
                <a:spcPts val="400"/>
              </a:spcAft>
              <a:defRPr sz="600" b="0">
                <a:solidFill>
                  <a:srgbClr val="F0F4F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風控建議：</a:t>
            </a:r>
          </a:p>
          <a:p>
            <a:pPr>
              <a:spcAft>
                <a:spcPts val="400"/>
              </a:spcAft>
              <a:defRPr sz="1300" b="0">
                <a:solidFill>
                  <a:srgbClr val="EF4444"/>
                </a:solidFill>
                <a:latin typeface="Segoe UI"/>
              </a:defRPr>
            </a:pPr>
            <a:r>
              <a:t>  最大回撤可達 50~66%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  建議搭配資金管理 + 分散投資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  考慮只做多策略降低回撤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8"/>
                </a:solidFill>
                <a:latin typeface="Segoe UI"/>
              </a:defRPr>
            </a:pPr>
            <a:r>
              <a:t>策略配置總結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均線參數</a:t>
            </a:r>
          </a:p>
          <a:p>
            <a:pPr>
              <a:spcAft>
                <a:spcPts val="400"/>
              </a:spcAft>
              <a:defRPr sz="1500" b="0">
                <a:solidFill>
                  <a:srgbClr val="F0F4F8"/>
                </a:solidFill>
                <a:latin typeface="Segoe UI"/>
              </a:defRPr>
            </a:pPr>
            <a:r>
              <a:t>  劉備 LiuBei:  SMA(200)</a:t>
            </a:r>
          </a:p>
          <a:p>
            <a:pPr>
              <a:spcAft>
                <a:spcPts val="400"/>
              </a:spcAft>
              <a:defRPr sz="1500" b="0">
                <a:solidFill>
                  <a:srgbClr val="F0F4F8"/>
                </a:solidFill>
                <a:latin typeface="Segoe UI"/>
              </a:defRPr>
            </a:pPr>
            <a:r>
              <a:t>  關羽 GuanYu:  SMA(50)</a:t>
            </a:r>
          </a:p>
          <a:p>
            <a:pPr>
              <a:spcAft>
                <a:spcPts val="400"/>
              </a:spcAft>
              <a:defRPr sz="1500" b="0">
                <a:solidFill>
                  <a:srgbClr val="F0F4F8"/>
                </a:solidFill>
                <a:latin typeface="Segoe UI"/>
              </a:defRPr>
            </a:pPr>
            <a:r>
              <a:t>  張飛 ZhangFei: SMA(20)</a:t>
            </a:r>
          </a:p>
          <a:p>
            <a:pPr>
              <a:spcAft>
                <a:spcPts val="400"/>
              </a:spcAft>
              <a:defRPr sz="800" b="0">
                <a:solidFill>
                  <a:srgbClr val="F0F4F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過濾器</a:t>
            </a:r>
          </a:p>
          <a:p>
            <a:pPr>
              <a:spcAft>
                <a:spcPts val="400"/>
              </a:spcAft>
              <a:defRPr sz="1500" b="0">
                <a:solidFill>
                  <a:srgbClr val="F0F4F8"/>
                </a:solidFill>
                <a:latin typeface="Segoe UI"/>
              </a:defRPr>
            </a:pPr>
            <a:r>
              <a:t>  MA 距離門檻:  2%</a:t>
            </a:r>
          </a:p>
          <a:p>
            <a:pPr>
              <a:spcAft>
                <a:spcPts val="400"/>
              </a:spcAft>
              <a:defRPr sz="1500" b="0">
                <a:solidFill>
                  <a:srgbClr val="F0F4F8"/>
                </a:solidFill>
                <a:latin typeface="Segoe UI"/>
              </a:defRPr>
            </a:pPr>
            <a:r>
              <a:t>  反彈做多:     停用（BounceL OFF）</a:t>
            </a:r>
          </a:p>
          <a:p>
            <a:pPr>
              <a:spcAft>
                <a:spcPts val="400"/>
              </a:spcAft>
              <a:defRPr sz="1500" b="0">
                <a:solidFill>
                  <a:srgbClr val="F0F4F8"/>
                </a:solidFill>
                <a:latin typeface="Segoe UI"/>
              </a:defRPr>
            </a:pPr>
            <a:r>
              <a:t>  冷卻期:       無</a:t>
            </a:r>
          </a:p>
          <a:p>
            <a:pPr>
              <a:spcAft>
                <a:spcPts val="400"/>
              </a:spcAft>
              <a:defRPr sz="1500" b="0">
                <a:solidFill>
                  <a:srgbClr val="F0F4F8"/>
                </a:solidFill>
                <a:latin typeface="Segoe UI"/>
              </a:defRPr>
            </a:pPr>
            <a:r>
              <a:t>  連續確認:     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交易邏輯</a:t>
            </a:r>
          </a:p>
          <a:p>
            <a:pPr>
              <a:spcAft>
                <a:spcPts val="400"/>
              </a:spcAft>
              <a:defRPr sz="1500" b="0">
                <a:solidFill>
                  <a:srgbClr val="F0F4F8"/>
                </a:solidFill>
                <a:latin typeface="Segoe UI"/>
              </a:defRPr>
            </a:pPr>
            <a:r>
              <a:t>  出場方式:    Flip-Only（信號翻轉）</a:t>
            </a:r>
          </a:p>
          <a:p>
            <a:pPr>
              <a:spcAft>
                <a:spcPts val="400"/>
              </a:spcAft>
              <a:defRPr sz="1500" b="0">
                <a:solidFill>
                  <a:srgbClr val="F0F4F8"/>
                </a:solidFill>
                <a:latin typeface="Segoe UI"/>
              </a:defRPr>
            </a:pPr>
            <a:r>
              <a:t>  下單模式:    100% 權益（複利）</a:t>
            </a:r>
          </a:p>
          <a:p>
            <a:pPr>
              <a:spcAft>
                <a:spcPts val="400"/>
              </a:spcAft>
              <a:defRPr sz="1500" b="0">
                <a:solidFill>
                  <a:srgbClr val="F0F4F8"/>
                </a:solidFill>
                <a:latin typeface="Segoe UI"/>
              </a:defRPr>
            </a:pPr>
            <a:r>
              <a:t>  槓桿:        無（1x）</a:t>
            </a:r>
          </a:p>
          <a:p>
            <a:pPr>
              <a:spcAft>
                <a:spcPts val="400"/>
              </a:spcAft>
              <a:defRPr sz="1500" b="0">
                <a:solidFill>
                  <a:srgbClr val="F0F4F8"/>
                </a:solidFill>
                <a:latin typeface="Segoe UI"/>
              </a:defRPr>
            </a:pPr>
            <a:r>
              <a:t>  止損/止盈:   無（靠信號翻轉）</a:t>
            </a:r>
          </a:p>
          <a:p>
            <a:pPr>
              <a:spcAft>
                <a:spcPts val="400"/>
              </a:spcAft>
              <a:defRPr sz="800" b="0">
                <a:solidFill>
                  <a:srgbClr val="F0F4F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回測環境</a:t>
            </a:r>
          </a:p>
          <a:p>
            <a:pPr>
              <a:spcAft>
                <a:spcPts val="400"/>
              </a:spcAft>
              <a:defRPr sz="1500" b="0">
                <a:solidFill>
                  <a:srgbClr val="F0F4F8"/>
                </a:solidFill>
                <a:latin typeface="Segoe UI"/>
              </a:defRPr>
            </a:pPr>
            <a:r>
              <a:t>  時框:        4H</a:t>
            </a:r>
          </a:p>
          <a:p>
            <a:pPr>
              <a:spcAft>
                <a:spcPts val="400"/>
              </a:spcAft>
              <a:defRPr sz="1500" b="0">
                <a:solidFill>
                  <a:srgbClr val="F0F4F8"/>
                </a:solidFill>
                <a:latin typeface="Segoe UI"/>
              </a:defRPr>
            </a:pPr>
            <a:r>
              <a:t>  手續費:      0%（零費用）</a:t>
            </a:r>
          </a:p>
          <a:p>
            <a:pPr>
              <a:spcAft>
                <a:spcPts val="400"/>
              </a:spcAft>
              <a:defRPr sz="1500" b="0">
                <a:solidFill>
                  <a:srgbClr val="F0F4F8"/>
                </a:solidFill>
                <a:latin typeface="Segoe UI"/>
              </a:defRPr>
            </a:pPr>
            <a:r>
              <a:t>  滑點:        0%</a:t>
            </a:r>
          </a:p>
          <a:p>
            <a:pPr>
              <a:spcAft>
                <a:spcPts val="400"/>
              </a:spcAft>
              <a:defRPr sz="1500" b="0">
                <a:solidFill>
                  <a:srgbClr val="F0F4F8"/>
                </a:solidFill>
                <a:latin typeface="Segoe UI"/>
              </a:defRPr>
            </a:pPr>
            <a:r>
              <a:t>  初始資金:    10,000 USDT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54864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F4F8"/>
                </a:solidFill>
                <a:latin typeface="Segoe UI"/>
              </a:defRPr>
            </a:pPr>
            <a:r>
              <a:t>三刀流 v6 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4A3B8"/>
                </a:solidFill>
                <a:latin typeface="Segoe UI"/>
              </a:defRPr>
            </a:pPr>
            <a:r>
              <a:t>均線交易策略回測報告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9E0B"/>
                </a:solidFill>
                <a:latin typeface="Segoe UI"/>
              </a:defRPr>
            </a:pPr>
            <a:r>
              <a:t>SMA(200/50/20) + DIST=2% + Flip-Only | 4H Timeframe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029200"/>
            <a:ext cx="45720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PineScript + Python 雙引擎驗證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Strategy Ready for Live Trading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5029200"/>
            <a:ext cx="45720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51206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B82F6"/>
                </a:solidFill>
                <a:latin typeface="Segoe UI"/>
              </a:defRPr>
            </a:pPr>
            <a:r>
              <a:t>Built with Claude Code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2026-03-29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